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36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Основи програмування на Rust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>
                <a:solidFill>
                  <a:srgbClr val="808080"/>
                </a:solidFill>
              </a:rPr>
              <a:t>професор кафедри</a:t>
            </a:r>
            <a:r>
              <a:rPr lang="en-US" sz="1400" dirty="0">
                <a:solidFill>
                  <a:srgbClr val="808080"/>
                </a:solidFill>
              </a:rPr>
              <a:t> </a:t>
            </a:r>
            <a:r>
              <a:rPr lang="uk-UA" sz="1400" dirty="0">
                <a:solidFill>
                  <a:srgbClr val="808080"/>
                </a:solidFill>
              </a:rPr>
              <a:t>програмних систем </a:t>
            </a:r>
            <a:r>
              <a:rPr lang="uk-UA" sz="1400">
                <a:solidFill>
                  <a:srgbClr val="808080"/>
                </a:solidFill>
              </a:rPr>
              <a:t>і технологій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08080"/>
                </a:solidFill>
              </a:rPr>
              <a:t>Київського національного університету імені Тараса Шевченка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D4D4"/>
                </a:solidFill>
              </a:rPr>
              <a:t>Бичков Олексій Сергійович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Зміст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Історія. Що таке Rust.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Встановлення. Інструменти. Термінал. Cargo.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Перша програма. Порівняння з Сі. Розбір програми.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Змінні. Іммутабельність. Імена змінних.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Типи даних. Цілі. Дробові. bool. char. Рядки.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Операції. Арифметичні. Порівняння. Логічні.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Оператори керування. if/else. Цикли loop, while, for.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D4D4D4"/>
                </a:solidFill>
              </a:rPr>
              <a:t>Функції. Приклади програм. Контрольні питання.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Цілі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C9B0"/>
                </a:solidFill>
              </a:rPr>
              <a:t>Дізнатись: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що таке Rust і чим він відрізняється від C/C++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як встановити Rust та налаштувати середовище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C9B0"/>
                </a:solidFill>
              </a:rPr>
              <a:t>Написати першу програму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C9B0"/>
                </a:solidFill>
              </a:rPr>
              <a:t>Навчитись писати прості програми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8080"/>
                </a:solidFill>
              </a:rPr>
              <a:t>(використовуючи змінні, типи, операції, умови, цикли, функції)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Що таке Rust?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D4D4D4"/>
                </a:solidFill>
              </a:rPr>
              <a:t>Вкратце: Rust — мова системного програмування, яка поєднує швидкість C/C++ з безпекою сучасних мов.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D4D4D4"/>
                </a:solidFill>
              </a:rPr>
              <a:t>Rust може працювати на рівні операційної системи, писати драйвери, ядра ОС. А може використовуватись для веб-серверів, ігор, блокчейнів.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D4D4D4"/>
                </a:solidFill>
              </a:rPr>
              <a:t>Щоб програма на Rust працювала, її треба скомпілювати — перетворити текст на машинний код.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DCAA"/>
                </a:solidFill>
              </a:rPr>
              <a:t>Головна особливість Rust: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Компілятор перевіряє безпеку роботи з пам'яттю ще ДО запуску програми. Немає segmentation fault, buffer overflow, use-after-free.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Трохи про Rust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Мова Rust була розроблена Грейдоном Хоаром як особистий проєкт у 2006 році. Mozilla офіційно підтримала проєкт у 2010 році. Перша стабільна версія Rust 1.0 вийшла у 2015 році.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Існують три гілки Rust: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 Stable — стабільна, рекомендована для продакшену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 Beta — тестова версія наступного релізу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 Nightly — нічна збірка з експериментальними можливостями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Rust — найулюбленіша мова програмістів за опитуванням Stack Overflow 8 років поспіль.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</a:rPr>
              <a:t>Інструменти: rustc (компілятор), cargo (збірка), rustup (версії), rust-analyzer (IDE)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Хто використовує Rust?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Mozilla Firefox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0" y="868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WebRender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Google Android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1417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Bluetooth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Microsoft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Windows kernel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Amazon AWS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Firecracker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Discord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868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Сервіси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Cloudflare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1417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Edge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Linux Kernel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Драйвери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514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Dropbox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Sync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D4D4"/>
                </a:solidFill>
              </a:rPr>
              <a:t>70% вразливостей Microsoft — помилки пам'яті. Rust усуває їх на етапі компіляції.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Що таке термінал?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Термінал (командний рядок) — текстовий інтерфейс для керування комп'ютером. Замість кліків мишкою ви вводите команди текстом.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Як відкрити: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Windows:  Win+R → cmd → Enter  або  PowerShell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macOS:    Cmd+Space → Terminal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Linux:    Ctrl+Alt+T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97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C:\Users\Student&gt; rustc --version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rustc 1.75.0 (82e1608df 2023-12-21)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ви вводите команду    ↑ комп'ютер відповідає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Встановлення Rust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Для Windows: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1. Відкрийте https://rustup.rs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2. Натисніть "Download rustup-init.exe"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3. Запустіть, натисніть Enter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4. Дочекайтесь (5-15 хв)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5. Перезапустіть термінал!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Для macOS/Linux: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--proto '=https' --tlsv1.2 -sSf https://sh.rustup.rs | sh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D4D4"/>
                </a:solidFill>
              </a:rPr>
              <a:t>⚠️ Після встановлення обов'язково перезапустіть термінал!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Перевірка встановлення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D4D4"/>
                </a:solidFill>
              </a:rPr>
              <a:t>Відкрийте НОВИЙ термінал і введіть: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 rustc --version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rustc 1.75.0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 cargo --version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1.75.0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 rustup --version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rustup 1.26.0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8080"/>
                </a:solidFill>
              </a:rPr>
              <a:t>rustc — компілятор,  cargo — менеджер проєктів,  rustup — менеджер версій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9B0"/>
                </a:solidFill>
              </a:rPr>
              <a:t>Якщо бачите версії — все встановлено правильно!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Інструмент cargo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cargo — головний інструмент Rust-розробника: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new my_project      # Створити проєкт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my_project             # Перейти в папку (ОБОВ'ЯЗКОВО!)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              # Скомпілювати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run                 # Скомпілювати І запустити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check               # Швидка перевірка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test                # Запустити тести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--release     # Оптимізована збірка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Структура проєкту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my_project/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Cargo.toml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target/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debug/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my_project.exe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297680" y="822960"/>
            <a:ext cx="43891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0" y="914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Cargo.toml — налаштування: назва, залежності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43891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DCAA"/>
                </a:solidFill>
              </a:rPr>
              <a:t>src/main.rs — ВАШ КОД ТУТ!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43891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2194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target/ — скомпільовані файли (.exe)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Перша програма: Сі vs Rust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2011680"/>
          </a:xfrm>
          <a:prstGeom prst="rect">
            <a:avLst/>
          </a:prstGeom>
          <a:solidFill>
            <a:srgbClr val="264F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Сі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printf("Hello!\n");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2011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E422B"/>
                </a:solidFill>
              </a:rPr>
              <a:t>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println!("Hello!");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8229600" cy="7315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Відмінності: немає #include • fn замість int • println! замість printf • немає return 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Перша програма: fn main()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Тіло програми завжди міститься у функції з назвою main.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fn — ключове слово для оголошення функції (від "function").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Порожні дужки () означають, що функція не приймає параметрів.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Фігурна дужка { починає тіло функції.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У Rust немає int перед main(). На відміну від Сі, де main повертає int, у Rust функція main за замовчуванням нічого не повертає.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Перша програма: println!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println!("Hello world!");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println! — макрос для виведення тексту на екран.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Знак оклику ! означає, що це макрос, а не звичайна функція.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Текст береться в подвійні лапки "...".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\n — перехід на новий рядок. Але println! автоматично додає новий рядок.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Крапка з комою ; — обов'язкова в кінці!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Хороший тон: все в фігурних дужках зсувати вправо (відступи).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Спецсимволи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868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новий рядок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табуляція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повернення каретки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\\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зворотна коса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868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868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подвійна лапка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\'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апостроф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783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нульовий символ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240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\x41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— hex код (A)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println!("Рядок 1\nРядок 2");  // Виведе два рядки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Форматування виводу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У Rust замість %d, %f використовуються {}: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1097280"/>
          </a:xfrm>
          <a:prstGeom prst="rect">
            <a:avLst/>
          </a:prstGeom>
          <a:solidFill>
            <a:srgbClr val="264F7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printf("x = %d", x);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143000"/>
            <a:ext cx="3931920" cy="10972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344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println!("x = {}", x);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10;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+ {} = {}", a, b, a + b);  // 5 + 10 = 15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println!("point = {:?}", (3, 4));        // point = (3, 4)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Що таке змінна?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Змінна — це іменована область пам'яті, де зберігається значення.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Можна уявити як підписану коробку з даними всередині.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let — ключове слово для оголошення змінної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x — ім'я змінної (ідентифікатор)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= — оператор присвоєння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5 — значення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; — кінець інструкції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DCAA"/>
                </a:solidFill>
              </a:rPr>
              <a:t>У Rust змінна — це ВЛАСНИК даних, а не посилання (як у Python).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Змінні: let та let mut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DCAA"/>
                </a:solidFill>
              </a:rPr>
              <a:t>ВАЖЛИВО: В Rust змінні за замовчуванням НЕЗМІННІ!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4747"/>
                </a:solidFill>
              </a:rPr>
              <a:t>❌ Без mut — помилка: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10;  // ❌ ПОМИЛКА!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cannot assign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twice to immutable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E4620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34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З mut — OK: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x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10;  // ✓ OK!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mut = mutable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= змінний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718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Навіщо? Запобігає випадковим змінам • Код легше читати • Краща оптимізація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Імена змінних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Починаються з букви або _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Містять букви, цифри, _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Регістр важливий (x ≠ 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Не можуть бути зарезервованими словами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Правильні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 = 25;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user_name = "Олексій";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Неправильні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2point = 5;  // цифра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fn = 5;      // зарезервоване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</a:rPr>
              <a:t>Хороший тон: snake_case (user_name), зрозумілі імена (age, не a)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Типи змінних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9B0"/>
                </a:solidFill>
              </a:rPr>
              <a:t>Тип      Розмір     Діапазон              Приклад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i8       1 байт     -128...127            let a: i8 = -50;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i32      4 байти    ±2 млрд               let a = 42;  // за замовч.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45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i64      8 байт     ±9·10¹⁸               let a: i64 = 9999999999;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20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u8       1 байт     0...255               let a: u8 = 255;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94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u32      4 байти    0...4 млрд            let a: u32 = 100;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68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f32      4 байти    ±3.4·10³⁸             let a: f32 = 3.14;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f64      8 байт     ±1.7·10³⁰⁸            let a = 3.14;  // за замовч.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    1 байт     true, false           let a = true;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    4 байти    Unicode               let a = 'Я';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</a:rPr>
              <a:t>i = signed, u = unsigned, f = float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Цілі числа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42;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million = 1_000_000;   // підкреслення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hex = 0xFF;            // = 255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octal = 0o77;          // = 63 (0o!)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binary = 0b1010;       // = 10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42i64;             // суфікс типу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100u8;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Відмінність від Сі: вісімкові 0o77 (не 077), двійкові 0b1010, підкреслення 1_000_000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Дробові числа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pi = 3.14159;        // f64 за замовч.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e: f32 = 2.718;      // явно f32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avogadro = 6.022e23; // експонента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13716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4747"/>
                </a:solidFill>
              </a:rPr>
              <a:t>⚠️ Цілі та дробові НЕ МОЖНА змішувати!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i32 = 5;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y: f64 = 2.0;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z = x + y;        // ❌ ПОМИЛКА!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z = x as f64 + y; // ✓ Явне перетворення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Логічний тип bool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is_active: bool = true;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is_finished = false;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is_less = 5 &lt; 10;    // true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is_active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println!("Активний");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82296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DCAA"/>
                </a:solidFill>
              </a:rPr>
              <a:t>Відмінність від Сі: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У Сі: 0 = false, інше = true. Можна if 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У Rust: тільки true/false. if x — помилка! Треба if x != 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Символьний тип char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char — один символ Unicode. ОДИНАРНІ лапки!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letter: char = 'A';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ukrainian = 'Я';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emoji = '🦀';       // Емодзі теж!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newline = '\n';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93192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Сі char = 1 байт (ASCII)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Rust char = 4 байти (UTF-32)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423160"/>
            <a:ext cx="3931920" cy="12801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2606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D4D4"/>
                </a:solidFill>
              </a:rPr>
              <a:t>⚠️ 'A' (char) ≠ "A" (рядок)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Рядки: &amp;str та String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&amp;str — фіксований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let s = "Hello";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0" y="822960"/>
            <a:ext cx="393192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914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String — динамічний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let s = String::from("Hi");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Конкатенація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hello = String::from("Hello, 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world = "World!";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msg = hello + world;  // "Hello, World!"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format!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msg = format!("{} {}!", "Hello", "World");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Операції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3891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45720" cy="438912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4124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Арифметичні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841248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  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43891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25880"/>
            <a:ext cx="45720" cy="43891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441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9CD6"/>
                </a:solidFill>
              </a:rPr>
              <a:t>Порівняння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344168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  &lt;  &gt;  &lt;=  &gt;=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43891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28800"/>
            <a:ext cx="45720" cy="438912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84708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DCAA"/>
                </a:solidFill>
              </a:rPr>
              <a:t>Логічні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1847088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||  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8229600" cy="43891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331720"/>
            <a:ext cx="45720" cy="438912"/>
          </a:xfrm>
          <a:prstGeom prst="rect">
            <a:avLst/>
          </a:prstGeom>
          <a:solidFill>
            <a:srgbClr val="C586C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35000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</a:rPr>
              <a:t>Присвоєння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350008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+=  -=  *=  /=  %=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438912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834640"/>
            <a:ext cx="45720" cy="438912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85292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9955"/>
                </a:solidFill>
              </a:rPr>
              <a:t>Бітові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2852928"/>
            <a:ext cx="6126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 |  ^  &lt;&lt;  &gt;&gt;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5643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D4D4"/>
                </a:solidFill>
              </a:rPr>
              <a:t>⚠️ У Rust НЕМАЄ ++ та -- !  Використовуйте: x += 1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Арифметичні операції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10;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3;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+ {} = {}", a, b, a + b);  // 13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- {} = {}", a, b, a - b);  // 7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* {} = {}", a, b, a * b);  // 30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/ {} = {}", a, b, a / b);  // 3 (ціле!)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% {} = {}", a, b, a % b);  // 1 (остача)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x = 10;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5;  // 15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-= 3;  // 12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*= 2;  // 24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Операції порівняння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10;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== {} → {}", a, b, a == b);  //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!= {} → {}", a, b, a != b);  //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&lt;  {} → {}", a, b, a &lt; b);   //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&gt;  {} → {}", a, b, a &gt; b);   //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&lt;= {} → {}", a, a, a &lt;= a);  //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&gt;= {} → {}", a, b, a &gt;= b);  // false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 &lt; b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println!("a менше за b");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Логічні операції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65176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&amp;&amp; — 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true &amp;&amp; true →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інше → false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46120" y="822960"/>
            <a:ext cx="265176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3337560" y="914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|| — АБО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false || false →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інше → true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0" y="822960"/>
            <a:ext cx="265176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914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! — НЕ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!true →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!false → true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659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 = 25;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has_license = true;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can_drive = age &gt;= 18 &amp;&amp; has_license;  // true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is_hungry = true;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needs_break = false || is_hungry;      // true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Оператор if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463040"/>
          </a:xfrm>
          <a:prstGeom prst="rect">
            <a:avLst/>
          </a:prstGeom>
          <a:solidFill>
            <a:srgbClr val="264F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&gt; 5)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printf("Більше");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printf("Менше");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0" y="822960"/>
            <a:ext cx="3931920" cy="14630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9144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5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println!("Більше");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println!("Менше");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DCAA"/>
                </a:solidFill>
              </a:rPr>
              <a:t>Відмінності від Сі: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БЕЗ круглих дужок! if x &gt; 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{ } ОБОВ'ЯЗКОВІ навіть для одного рядка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Умова ПОВИННА бути bool! if x — помилка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if як вираз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if — це вираз, який повертає значення! Замінює тернарний ?: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solidFill>
            <a:srgbClr val="264F7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Сі:   int s = x &gt; 0 ? 1 : 0;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Rust: let s = if x &gt; 0 { 1 } else { 0 };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75;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grade = if score &gt;= 90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"Відмінно"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score &gt;= 70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"Добре"       // ← score = 75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"Задовільно"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println!("Оцінка: {}", grade);  // Добре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Цикл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loop — нескінченний цикл. Вихід через break.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Простий: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c 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+= 1;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 &gt;= 5 { break;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2 3 4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344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Повертає значення: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c 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loop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+= 1;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 == 10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 c * 2;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 // result = 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break може повертати значення!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Цикл while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Зворотний відлік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n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 &gt; 0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println!("{}...", n);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-= 1;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println!("Старт!");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Старт!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Цикл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0..5 — НЕ включає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0..5 { print!("{} ", i); }  // 0 1 2 3 4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1..=5 — ВКЛЮЧАЄ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1..=5 { print!("{} ", i); }  // 1 2 3 4 5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Зворотній порядок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(1..=5).rev() { print!("{} ", i); }  // 5 4 3 2 1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 масиву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["яблуко", "банан"];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fruit in fruits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fruit);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break та continue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 — вихід: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0..10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5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println!("Стоп!");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i);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1 2 3 4 Стоп!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0" y="822960"/>
            <a:ext cx="393192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8686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 — пропустити: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0..5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2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i);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1 3 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(2 пропущено)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Функції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fn оголошує функцію. Типи параметрів ОБОВ'ЯЗКОВІ.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greet()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println!("Привіт!");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greet_person(name: &amp;str)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println!("Привіт, {}!", name);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add(a: i32, b: i32) -&gt; i32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+ b   // БЕЗ ; = повернення!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greet();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greet_person("Rust");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sum = add(5, 3);  // 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Приклад: площа круга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calculate_area(r: f64) -&gt; f64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3.14159265 * r * 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radius = 5.0;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area = calculate_area(radius);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println!("Радіус: {}", radius);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println!("Площа: {:.2}", area);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Радіус: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Площа: 78.54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Приклад: конвертер температури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celsius_to_fahrenheit(c: f64) -&gt; f64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* 9.0 / 5.0 + 32.0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temps = [0.0, 20.0, 36.6, 100.0];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temps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f = celsius_to_fahrenheit(c);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println!("{:.1}°C = {:.1}°F", c, f);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0.0°C = 32.0°F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20.0°C = 68.0°F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Завдання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1. Вивести println! візерунок: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*  *  ****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*  *  *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****  ***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*  *  *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*  *  ****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   Спробуйте одним println!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2. Перевести Фаренгейта в Цельсія: C = (F - 32) × 5/9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3. Написати калькулятор: add, subtract, multiply, divide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E422B"/>
                </a:solidFill>
              </a:rPr>
              <a:t>Підсумок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45720" cy="54864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50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Інструменти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rustup, cargo new/build/run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45720" cy="548640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90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9CD6"/>
                </a:solidFill>
              </a:rPr>
              <a:t>Програма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fn main() { }, println!()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39319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03120"/>
            <a:ext cx="45720" cy="548640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30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DCAA"/>
                </a:solidFill>
              </a:rPr>
              <a:t>Змінні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let / let mut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822960"/>
            <a:ext cx="39319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822960"/>
            <a:ext cx="45720" cy="548640"/>
          </a:xfrm>
          <a:prstGeom prst="rect">
            <a:avLst/>
          </a:prstGeom>
          <a:solidFill>
            <a:srgbClr val="C586C0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850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86C0"/>
                </a:solidFill>
              </a:rPr>
              <a:t>Типи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i32, f64, bool, char, &amp;str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463040"/>
            <a:ext cx="39319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1463040"/>
            <a:ext cx="45720" cy="548640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490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9955"/>
                </a:solidFill>
              </a:rPr>
              <a:t>Операції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1737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+ - * / %, == !=, &amp;&amp; ||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103120"/>
            <a:ext cx="393192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2103120"/>
            <a:ext cx="45720" cy="548640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130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422B"/>
                </a:solidFill>
              </a:rPr>
              <a:t>Керування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2377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if/else, loop, while, for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8229600" cy="8229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422B"/>
                </a:solidFill>
              </a:rPr>
              <a:t>Наступна лекція: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Ownership — система володіння пам'яттю, серце безпеки Rust 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3031</Words>
  <Application>Microsoft Office PowerPoint</Application>
  <PresentationFormat>Экран (16:9)</PresentationFormat>
  <Paragraphs>548</Paragraphs>
  <Slides>40</Slides>
  <Notes>40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4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Основи програмування на Rust</dc:title>
  <dc:subject>PptxGenJS Presentation</dc:subject>
  <dc:creator>О. С. Бичков</dc:creator>
  <cp:lastModifiedBy>Алексей</cp:lastModifiedBy>
  <cp:revision>2</cp:revision>
  <dcterms:created xsi:type="dcterms:W3CDTF">2026-01-02T13:19:10Z</dcterms:created>
  <dcterms:modified xsi:type="dcterms:W3CDTF">2026-01-02T13:26:52Z</dcterms:modified>
</cp:coreProperties>
</file>