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731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8080"/>
                </a:solidFill>
              </a:rPr>
              <a:t>Лекція 20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E422B"/>
                </a:solidFill>
              </a:rPr>
              <a:t>Actor Model: Концепції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EC9B0"/>
                </a:solidFill>
              </a:rPr>
              <a:t>Модель акторів для конкурентних систем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08080"/>
                </a:solidFill>
              </a:rPr>
              <a:t>Actor • Message • Mailbox • Supervision • Location Transparency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828800" y="2743200"/>
            <a:ext cx="54864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8346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Агент = Актор: природна відповідність для МАС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CDCAA"/>
                </a:solidFill>
              </a:rPr>
              <a:t>Частина 1: Теоретичні основи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297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08080"/>
                </a:solidFill>
              </a:rPr>
              <a:t>О. С. Бичков • 2025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План лекції (Частина 1)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Історія та мотивація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Що таке Actor?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Три аксіоми Actor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4. Повідомлення та Mailbox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5. Asynchronous message passing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6. Actor lifecycle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7. Порівняння з OOP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8. Порівняння з Threads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389120" y="868680"/>
            <a:ext cx="4297680" cy="20116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480560" y="941832"/>
            <a:ext cx="411480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9. Порівняння з CSP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10. Переваги Actor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11. Недоліки та обмеження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12. 🤖 Agent як Actor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13. 🤖 Swarm як Actor System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14. Actor в екосистемі Rust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15. Коли використовувати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16. Підсумок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090672"/>
            <a:ext cx="8046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EC9B0"/>
                </a:solidFill>
              </a:rPr>
              <a:t>Частина 2: Реалізація на Tokio, патерни, supervision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Історія Actor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148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1973 — Carl Hewitt, MIT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Перша публікація "A Universal Modular ACTOR Formalism"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1986 — Gul Agha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"Actors: A Model of Concurrent Computation"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Формалізація та теоретичні основи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1995 — Erlang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Перша промислова мова з Actor Model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Ericsson — телекомунікаційні системи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"Nine 9s" reliability (99.9999999% uptime)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2009 — Akka (Scala/Java)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Popularization in JVM world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2010s — Elixir, Pony, Orleans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Різні реалізації та адаптації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1089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"Everything is an Actor" — концептуально схоже до "Everything is an Object"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Чому Actor Model?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Проблеми традиційного підходу (shared state + locks):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Race conditions — важко виявити та відтворити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Deadlocks — взаємне блокування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Priority inversion — низькопріоритетний блокує високо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Складність reasoning — важко міркувати про стан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Погана масштабованість — contention на 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Складність testing — недетерміновані помилки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2194560"/>
            <a:ext cx="8229600" cy="12344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267712"/>
            <a:ext cx="804672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Рішення Actor Model: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No shared state — кожен актор має власний стан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Message passing — єдиний спосіб комунікації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Sequential processing — один message за раз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Location transparency — не важливо де актор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Supervision — ієрархія для обробки помилок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Легке масштабування — актори незалежні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Що таке Actor?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Actor — фундаментальна одиниця обчислень в Actor Model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Кожен Actor має: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Actor    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┌─────────────┐  ┌─────────────────┐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Mailbox   │  │  Private State  │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[msg][msg] │  │  data: T        │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[msg]      │  │  config: C      │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└──────┬──────┘  └─────────────────┘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│                ↑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└──→ Behavior ───┘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(handle messages)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└─────────────────────────────────────────┘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Mailbox — черга вхідних повідомлень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Private State — ізольований внутрішній стан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Behavior — логіка обробки повідомлень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Три аксіоми Actor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691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При отриманні повідомлення, Actor може: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1️⃣ SEND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Надіслати скінченну кількість повідомлень іншим акторам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2️⃣ CREATE actors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Створити скінченну кількість нових акторів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3️⃣ DESIGNATE behavior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Визначити поведінку для наступного повідомлення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(змінити свій стан)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65176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Приклад трьох аксіом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 Actor for MyActor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fn handle(&amp;mut self, msg: Message, ctx: &amp;mut Context)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1. SEND — надіслати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ctx.send(other_actor, Response::Ok);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2. CREATE — створити нового актора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let child = ctx.spawn(ChildActor::new());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3. DESIGNATE — змінити поведінку/стан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self.state = NewState::Processing;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Повідомлення (Messages)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972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Повідомлення — єдиний спосіб комунікації між акторами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 повідомлень: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Immutable — незмінні після створення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Typed — сильно типізовані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Asynchronous — надсилання не блокує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Ordered — FIFO для пари sender-receiver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At-most-once — без автоматичних повторів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457200"/>
            <a:ext cx="8229600" cy="205740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502920"/>
            <a:ext cx="8046720" cy="1965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Типізовані повідомлення як enum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Команди (fire-and-forget)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StartPatrol(Area),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Stop,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Запити (очікують відповідь)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GetStatus { reply_to: ActorRef&lt;StatusResponse&gt;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GetPosition { reply_to: ActorRef&lt;Position&gt;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Події (notification)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TargetDetected(Target),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BatteryLow(u8),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Відповіді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StatusResponse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Ok(AgentStatus),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Error(String),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Mailbox — черга повідомлень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10058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859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Mailbox — буфер для вхідних повідомлень актора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Типи Mailbox: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Unbounded — необмежена черга (ризик OOM)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Bounded — з обмеженням (backpressure)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Priority — з пріоритетами повідомлень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Stash — тимчасове відкладання повідомлень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" y="1965960"/>
            <a:ext cx="8229600" cy="1417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804672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Обробка повідомлень: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Sender A ──msg1──┐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Sender B ──msg2──┼──→ [Mailbox: msg1, msg2, msg3] ──→ Actor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Sender C ──msg3──┘                                    (one at a time)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Повідомлення обробляються ПОСЛІДОВНО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Один message за раз — no race conditions!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• Actor ніколи не переривається під час обробки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Asynchronous Message Passing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АСИНХРОННЕ надсилання — sender НЕ чекає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fire_and_forget()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Надсилаємо і продовжуємо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actor.send(Message::DoWork).await;  // Тільки кладе в mailbox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Не чекаємо на обробку!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println!("Message sent, continuing...");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Request-Reply pattern (якщо потрібна відповідь)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async fn request_reply()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Створюємо канал для відповіді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(tx, rx) = oneshot::channel();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Надсилаємо з reply channel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actor.send(Message::GetStatus { reply_to: tx }).await;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 Чекаємо на відповідь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let status = rx.await?;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Tell vs Ask: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Tell: actor.tell(msg)   — fire-and-forget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Ask:  actor.ask(msg)    — чекає відповідь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301752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Важливо: send() не гарантує доставку чи обробку!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Lifecycle — життєвий цикл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Actor Lifecycle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┌─────────┐    ┌─────────┐    ┌──────────┐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Created │───→│ Started │───→│ Running  │←────┐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└─────────┘    └─────────┘    └────┬─────┘     │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│              │           │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pre_start()    handle_msg()    │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               │           │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               ↓           │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          ┌─────────┐     │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          │Restarting│────┘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          └────┬─────┘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│                             │ (supervisor)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↓                             ↓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┌─────────┐                   ┌─────────┐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│ Stopped │←──────────────────│ Stopping│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└─────────┘    post_stop()    └─────────┘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Lifecycle Hooks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trait Actor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type Message;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Викликається перед початком обробки повідомлень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pre_start(&amp;mut self, ctx: &amp;mut 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Ініціалізація ресурсів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Підписка на події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Запуск таймерів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Обробка повідомлення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handle(&amp;mut self, msg: Self::Message, ctx: &amp;mut Context&lt;Self&gt;);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Викликається після зупинки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post_stop(&amp;mut self, ctx: &amp;mut 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Очищення ресурсів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Закриття з'єднань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Збереження стану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/// Викликається перед перезапуском (після помилки)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async fn pre_restart(&amp;mut self, error: &amp;Error, ctx: &amp;mut Context&lt;Self&gt;)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Логування помилки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// Очищення перед рестартом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Model vs OOP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OOP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Одиниця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Object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Комунікація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Method call (sync)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Message (async)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Стан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Може бути shared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Завжди private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Concurrency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Locks, mutexes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Built-in (mailbox)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Помилки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Exceptions bubble up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Supervision hierarchy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Ідентичність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Reference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Address/ActorRef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Створення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new()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spawn()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880360"/>
            <a:ext cx="8229600" cy="5486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953512"/>
            <a:ext cx="804672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OOP: object.method(args) — синхронний виклик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Actor: actor.send(message) — асинхронне повідомлення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Model можна розглядати як "OOP done right" для concurrency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Model vs Threads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92024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Threads + Mutex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State protection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Manual (locks)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Automatic (isolation)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Communication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Shared memory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Messages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Scheduling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OS preemptive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Runtime cooperative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Memory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Heavy (~2MB/thread)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Light (~KB/actor)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Scalability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~10K threads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~1M+ actors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Deadlocks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Possible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Impossible*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Debugging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Hard (race cond.)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Easier (deterministic)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08080"/>
                </a:solidFill>
              </a:rPr>
              <a:t>* Deadlock between actors неможливий через async messages, але можливий logical deadlock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457200" y="3200400"/>
            <a:ext cx="8229600" cy="32004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3273552"/>
            <a:ext cx="8046720" cy="1737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= lightweight "virtual thread" з ізольованим станом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Model vs CSP (Go channels)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8288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Аспект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Actor Model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CSP (Go)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First-class entity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Channel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Identity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Actor has address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Channel is anonymous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State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Inside 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Inside goroutine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Communication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Actor-to-actor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Through channel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Mailbox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Per actor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Shared channel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Supervision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Built-in hierarchy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Manual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Failure handling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Let it crash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D4D4D4"/>
                          </a:solidFill>
                        </a:rPr>
                        <a:t>Error handling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788920"/>
            <a:ext cx="8229600" cy="64008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862072"/>
            <a:ext cx="8046720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Actor: "Надішли повідомлення актору A"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CSP:   "Надішли значення в канал C"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Go: "Don't communicate by sharing memory; share memory by communicating"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Actor: "Communicate by sending messages to named actors"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Переваги Actor Model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146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368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Ізоляція стану — no shared state, no race conditions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Простота reasoning — actor = state machine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Масштабованість — легко додавати акторів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Location transparency — actor може бути локально або remote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Fault tolerance — supervision trees для recovery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Природня модель для distributed systems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Легше тестування — детерміновані unit tests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✓ Hot code upgrade — можна оновлювати поведінку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Ідеально для МАС — Agent ≈ Actor!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Недоліки та обмеження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1945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Overhead — message passing дорожчий за method call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Debugging — важко трейсити потік повідомлень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No shared state — іноді потрібен для performance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Message ordering — гарантується тільки між парою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Boilerplate — багато коду для messages/handlers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Learning curve — інша парадигма мислення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Deadlock prevention — logical deadlocks все ще можливі: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 A чекає на B, B чекає на A (через ask/request-reply)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Back-pressure — потрібна ручна реалізація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1546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Рішення: використовувати там де переваги &gt; недоліків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Agent як Actor — природна відповідність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160020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41832"/>
            <a:ext cx="8046720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 агента МАС: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Автономність → Actor's private state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Реактивність → Message handling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Проактивність → Internal timers, scheduled messages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Соціальність → Inter-actor communication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Властивості Actor: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Ізольований стан → Агент має власний "розум"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Mailbox → Черга команд для агента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Асинхронність → Агенти працюють паралельно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Supervision → Ієрархія командування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457200"/>
            <a:ext cx="8229600" cy="256032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502920"/>
            <a:ext cx="80467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Agent = Actor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struct DroneAgent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id: AgentId,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position: Position,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state: AgentState,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battery: u8,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mission: Option&lt;Mission&gt;,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Agent messages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DroneMessage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Scan(Area),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Report { to: ActorRef&lt;Coordinator&gt;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Swarm як Actor System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914400"/>
            <a:ext cx="8046720" cy="2423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┌─────────────────────────────────────────────────────────────┐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Swarm Actor System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├─────────────────────────────────────────────────────────────┤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                            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┌─────────────────┐         Supervision      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Coordinator   │◄────────────────────────┐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│     (Actor)     │                   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└────────┬────────┘                   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│ supervises                 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┌─────┴─────┬──────────┬─────────┐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▼           ▼          ▼         ▼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┌───────┐ ┌───────┐ ┌───────┐ ┌───────┐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│Agent 1│ │Agent 2│ │Agent 3│ │Agent N│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│(Actor)│ │(Actor)│ │(Actor)│ │(Actor)│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└───────┘ └───────┘ └───────┘ └───────┘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│         │          │         │  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└─────────┴──────────┴─────────┘  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           Messages between agents         │              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4EC9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└─────────────────────────────────────────────────────────────┘</a:t>
            </a:r>
            <a:endParaRPr lang="en-US" sz="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solidFill>
            <a:srgbClr val="1A23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92608"/>
            <a:ext cx="8046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4EC9B0"/>
                </a:solidFill>
              </a:rPr>
              <a:t>🤖 МАС: Потік повідомлень у рої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457200"/>
            <a:ext cx="8229600" cy="868680"/>
          </a:xfrm>
          <a:prstGeom prst="rect">
            <a:avLst/>
          </a:prstGeom>
          <a:solidFill>
            <a:srgbClr val="0D3B2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502920"/>
            <a:ext cx="8046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Coordinator -&gt; Agent: Команди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CoordinatorToAgent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AssignMission(Mission),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MoveTo(Position),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ReturnToBase,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Agent -&gt; Coordinator: Звіти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AgentToCoordinator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StatusUpdate { agent: AgentId, status: AgentStatus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TargetDetected { agent: AgentId, target: Target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MissionComplete { agent: AgentId, mission: MissionId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LowBattery { agent: AgentId, level: u8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Agent -&gt; Agent: Peer communication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AgentToAgent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ShareTarget(Target),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RequestAssistance(Position),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FormationUpdate(FormationPosition),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Event Bus (broadcast)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enum SwarmEvent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AlertLevel(AlertLevel),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GlobalShutdown,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Actor Model в екосистемі Rust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868680"/>
          <a:ext cx="8229600" cy="173736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Бібліотека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Опис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Статус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3B2E"/>
                    </a:solidFill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Manual (Tokio)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Власна реалізація на channels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Recommended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Actix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Потужний actor framework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Mature, complex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Ractor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Erlang-style actors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Modern, simple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xtra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Lightweight actors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Simple API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bastion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Fault-tolerant runtime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Supervision focus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4819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coerce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Distributed actors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D4D4D4"/>
                          </a:solidFill>
                        </a:rPr>
                        <a:t>Remote actors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457200" y="2697480"/>
            <a:ext cx="8229600" cy="7315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5" name="Text 2"/>
          <p:cNvSpPr/>
          <p:nvPr/>
        </p:nvSpPr>
        <p:spPr>
          <a:xfrm>
            <a:off x="548640" y="2770632"/>
            <a:ext cx="8046720" cy="5852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Рекомендація для навчання: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1. Manual implementation на Tokio — розуміння концепцій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2. Ractor — простий Erlang-style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3. Actix — для production web services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Коли використовувати Actor Model?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393192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374904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✅ Використовуйте коли: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Багато незалежних сутностей зі станом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Потрібна ізоляція помилок (fault tolerance)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Distributed система (location transparency)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Event-driven архітектура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🤖 Мультиагентні системи!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Game entities (NPCs, players)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IoT devices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Chat/messaging системи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572000" y="868680"/>
            <a:ext cx="4114800" cy="164592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6" name="Text 4"/>
          <p:cNvSpPr/>
          <p:nvPr/>
        </p:nvSpPr>
        <p:spPr>
          <a:xfrm>
            <a:off x="4663440" y="941832"/>
            <a:ext cx="3931920" cy="1499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❌ НЕ використовуйте коли: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Shared state критичний для performance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Tight synchronization потрібна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Simple request-response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Low-latency requirements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Багато мілісекундний overhead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  неприйнятний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Проста CRUD application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DCAA"/>
                </a:solidFill>
              </a:rPr>
              <a:t>Правило: якщо думаєте про систему як про "акторів" — використовуйте Actor Model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1E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E422B"/>
                </a:solidFill>
              </a:rPr>
              <a:t>Підсумок: Частина 1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423160"/>
          </a:xfrm>
          <a:prstGeom prst="rect">
            <a:avLst/>
          </a:prstGeom>
          <a:solidFill>
            <a:srgbClr val="252526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41832"/>
            <a:ext cx="8046720" cy="22768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Actor Model — модель конкурентних обчислень: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Actor = state + mailbox + behavior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Три аксіоми: SEND, CREATE, DESIGNATE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Асинхронне message passing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Ізольований стан — no race conditions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Порівняння: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vs OOP: async messages замість sync calls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vs Threads: lightweight, no locks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• vs CSP: named actors замість anonymous channels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Переваги: isolation, scalability, fault tolerance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Недоліки: overhead, debugging, learning curve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D4D4D4"/>
                </a:solidFill>
              </a:rPr>
              <a:t>🤖 МАС: Agent = Actor — природна відповідність!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338328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EC9B0"/>
                </a:solidFill>
              </a:rPr>
              <a:t>→ Частина 2: Реалізація на Tokio, supervision, патерни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Actor Model Частина 1</dc:title>
  <dc:subject>PptxGenJS Presentation</dc:subject>
  <dc:creator>О.С. Бичков</dc:creator>
  <cp:lastModifiedBy>О.С. Бичков</cp:lastModifiedBy>
  <cp:revision>1</cp:revision>
  <dcterms:created xsi:type="dcterms:W3CDTF">2026-01-02T19:28:56Z</dcterms:created>
  <dcterms:modified xsi:type="dcterms:W3CDTF">2026-01-02T19:28:56Z</dcterms:modified>
</cp:coreProperties>
</file>