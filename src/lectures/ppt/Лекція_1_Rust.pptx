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96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634" y="1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523660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25300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CE422B"/>
                </a:solidFill>
              </a:rPr>
              <a:t>Основи програмування на Rust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22860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1400" dirty="0">
                <a:solidFill>
                  <a:srgbClr val="808080"/>
                </a:solidFill>
              </a:rPr>
              <a:t>професор кафедри</a:t>
            </a:r>
            <a:r>
              <a:rPr lang="en-US" sz="1400" dirty="0">
                <a:solidFill>
                  <a:srgbClr val="808080"/>
                </a:solidFill>
              </a:rPr>
              <a:t> </a:t>
            </a:r>
            <a:r>
              <a:rPr lang="uk-UA" sz="1400" dirty="0">
                <a:solidFill>
                  <a:srgbClr val="808080"/>
                </a:solidFill>
              </a:rPr>
              <a:t>програмних систем </a:t>
            </a:r>
            <a:r>
              <a:rPr lang="uk-UA" sz="1400">
                <a:solidFill>
                  <a:srgbClr val="808080"/>
                </a:solidFill>
              </a:rPr>
              <a:t>і технологій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808080"/>
                </a:solidFill>
              </a:rPr>
              <a:t>Київського національного університету імені Тараса Шевченка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D4D4D4"/>
                </a:solidFill>
              </a:rPr>
              <a:t>Бичков Олексій Сергійович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CE422B"/>
                </a:solidFill>
              </a:rPr>
              <a:t>Зміст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400"/>
              </a:lnSpc>
              <a:buNone/>
            </a:pPr>
            <a:r>
              <a:rPr lang="en-US" sz="1400" dirty="0">
                <a:solidFill>
                  <a:srgbClr val="D4D4D4"/>
                </a:solidFill>
              </a:rPr>
              <a:t>Історія. Що таке Rust.</a:t>
            </a:r>
            <a:endParaRPr lang="en-US" sz="140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400" dirty="0">
                <a:solidFill>
                  <a:srgbClr val="D4D4D4"/>
                </a:solidFill>
              </a:rPr>
              <a:t>Встановлення. Інструменти. Термінал. Cargo.</a:t>
            </a:r>
            <a:endParaRPr lang="en-US" sz="140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400" dirty="0">
                <a:solidFill>
                  <a:srgbClr val="D4D4D4"/>
                </a:solidFill>
              </a:rPr>
              <a:t>Перша програма. Порівняння з Сі. Розбір програми.</a:t>
            </a:r>
            <a:endParaRPr lang="en-US" sz="140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400" dirty="0">
                <a:solidFill>
                  <a:srgbClr val="D4D4D4"/>
                </a:solidFill>
              </a:rPr>
              <a:t>Змінні. Іммутабельність. Імена змінних.</a:t>
            </a:r>
            <a:endParaRPr lang="en-US" sz="140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400" dirty="0">
                <a:solidFill>
                  <a:srgbClr val="D4D4D4"/>
                </a:solidFill>
              </a:rPr>
              <a:t>Типи даних. Цілі. Дробові. bool. char. Рядки.</a:t>
            </a:r>
            <a:endParaRPr lang="en-US" sz="140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400" dirty="0">
                <a:solidFill>
                  <a:srgbClr val="D4D4D4"/>
                </a:solidFill>
              </a:rPr>
              <a:t>Операції. Арифметичні. Порівняння. Логічні.</a:t>
            </a:r>
            <a:endParaRPr lang="en-US" sz="140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400" dirty="0">
                <a:solidFill>
                  <a:srgbClr val="D4D4D4"/>
                </a:solidFill>
              </a:rPr>
              <a:t>Оператори керування. if/else. Цикли loop, while, for.</a:t>
            </a:r>
            <a:endParaRPr lang="en-US" sz="140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400" dirty="0">
                <a:solidFill>
                  <a:srgbClr val="D4D4D4"/>
                </a:solidFill>
              </a:rPr>
              <a:t>Функції. Приклади програм. Контрольні питання.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CE422B"/>
                </a:solidFill>
              </a:rPr>
              <a:t>Цілі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4EC9B0"/>
                </a:solidFill>
              </a:rPr>
              <a:t>Дізнатись: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4D4D4"/>
                </a:solidFill>
              </a:rPr>
              <a:t>що таке Rust і чим він відрізняється від C/C++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D4D4D4"/>
                </a:solidFill>
              </a:rPr>
              <a:t>як встановити Rust та налаштувати середовище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21945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4EC9B0"/>
                </a:solidFill>
              </a:rPr>
              <a:t>Написати першу програму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2743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4EC9B0"/>
                </a:solidFill>
              </a:rPr>
              <a:t>Навчитись писати прості програми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10896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08080"/>
                </a:solidFill>
              </a:rPr>
              <a:t>(використовуючи змінні, типи, операції, умови, цикли, функції)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CE422B"/>
                </a:solidFill>
              </a:rPr>
              <a:t>Що таке Rust?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sz="1300" dirty="0">
                <a:solidFill>
                  <a:srgbClr val="D4D4D4"/>
                </a:solidFill>
              </a:rPr>
              <a:t>Вкратце: Rust — мова системного програмування, яка поєднує швидкість C/C++ з безпекою сучасних мов.</a:t>
            </a:r>
            <a:endParaRPr lang="en-US" sz="1300" dirty="0"/>
          </a:p>
          <a:p>
            <a:pPr marL="0" indent="0">
              <a:lnSpc>
                <a:spcPts val="2200"/>
              </a:lnSpc>
              <a:buNone/>
            </a:pPr>
            <a:endParaRPr lang="en-US" sz="1300" dirty="0"/>
          </a:p>
          <a:p>
            <a:pPr marL="0" indent="0">
              <a:lnSpc>
                <a:spcPts val="2200"/>
              </a:lnSpc>
              <a:buNone/>
            </a:pPr>
            <a:r>
              <a:rPr lang="en-US" sz="1300" dirty="0">
                <a:solidFill>
                  <a:srgbClr val="D4D4D4"/>
                </a:solidFill>
              </a:rPr>
              <a:t>Rust може працювати на рівні операційної системи, писати драйвери, ядра ОС. А може використовуватись для веб-серверів, ігор, блокчейнів.</a:t>
            </a:r>
            <a:endParaRPr lang="en-US" sz="1300" dirty="0"/>
          </a:p>
          <a:p>
            <a:pPr marL="0" indent="0">
              <a:lnSpc>
                <a:spcPts val="2200"/>
              </a:lnSpc>
              <a:buNone/>
            </a:pPr>
            <a:endParaRPr lang="en-US" sz="1300" dirty="0"/>
          </a:p>
          <a:p>
            <a:pPr marL="0" indent="0">
              <a:lnSpc>
                <a:spcPts val="2200"/>
              </a:lnSpc>
              <a:buNone/>
            </a:pPr>
            <a:r>
              <a:rPr lang="en-US" sz="1300" dirty="0">
                <a:solidFill>
                  <a:srgbClr val="D4D4D4"/>
                </a:solidFill>
              </a:rPr>
              <a:t>Щоб програма на Rust працювала, її треба скомпілювати — перетворити текст на машинний код.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2834640"/>
            <a:ext cx="8229600" cy="914400"/>
          </a:xfrm>
          <a:prstGeom prst="rect">
            <a:avLst/>
          </a:prstGeom>
          <a:solidFill>
            <a:srgbClr val="252526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8803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CDCAA"/>
                </a:solidFill>
              </a:rPr>
              <a:t>Головна особливість Rust: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320040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4D4D4"/>
                </a:solidFill>
              </a:rPr>
              <a:t>Компілятор перевіряє безпеку роботи з пам'яттю ще ДО запуску програми. Немає segmentation fault, buffer overflow, use-after-free.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CE422B"/>
                </a:solidFill>
              </a:rPr>
              <a:t>Трохи про Rust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D4D4D4"/>
                </a:solidFill>
              </a:rPr>
              <a:t>Мова Rust була розроблена Грейдоном Хоаром як особистий проєкт у 2006 році. Mozilla офіційно підтримала проєкт у 2010 році. Перша стабільна версія Rust 1.0 вийшла у 2015 році.</a:t>
            </a:r>
            <a:endParaRPr lang="en-US" sz="1200" dirty="0"/>
          </a:p>
          <a:p>
            <a:pPr marL="0" indent="0">
              <a:lnSpc>
                <a:spcPts val="1800"/>
              </a:lnSpc>
              <a:buNone/>
            </a:pPr>
            <a:endParaRPr lang="en-US" sz="12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D4D4D4"/>
                </a:solidFill>
              </a:rPr>
              <a:t>Існують три гілки Rust:</a:t>
            </a:r>
            <a:endParaRPr lang="en-US" sz="12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D4D4D4"/>
                </a:solidFill>
              </a:rPr>
              <a:t>    Stable — стабільна, рекомендована для продакшену</a:t>
            </a:r>
            <a:endParaRPr lang="en-US" sz="12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D4D4D4"/>
                </a:solidFill>
              </a:rPr>
              <a:t>    Beta — тестова версія наступного релізу</a:t>
            </a:r>
            <a:endParaRPr lang="en-US" sz="12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D4D4D4"/>
                </a:solidFill>
              </a:rPr>
              <a:t>    Nightly — нічна збірка з експериментальними можливостями</a:t>
            </a:r>
            <a:endParaRPr lang="en-US" sz="1200" dirty="0"/>
          </a:p>
          <a:p>
            <a:pPr marL="0" indent="0">
              <a:lnSpc>
                <a:spcPts val="1800"/>
              </a:lnSpc>
              <a:buNone/>
            </a:pPr>
            <a:endParaRPr lang="en-US" sz="12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D4D4D4"/>
                </a:solidFill>
              </a:rPr>
              <a:t>Rust — найулюбленіша мова програмістів за опитуванням Stack Overflow 8 років поспіль.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3200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08080"/>
                </a:solidFill>
              </a:rPr>
              <a:t>Інструменти: rustc (компілятор), cargo (збірка), rustup (версії), rust-analyzer (IDE)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CE422B"/>
                </a:solidFill>
              </a:rPr>
              <a:t>Хто використовує Rust?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EC9B0"/>
                </a:solidFill>
              </a:rPr>
              <a:t>Mozilla Firefox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560320" y="86868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4D4D4"/>
                </a:solidFill>
              </a:rPr>
              <a:t>WebRender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41732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EC9B0"/>
                </a:solidFill>
              </a:rPr>
              <a:t>Google Android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560320" y="14173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4D4D4"/>
                </a:solidFill>
              </a:rPr>
              <a:t>Bluetooth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9659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EC9B0"/>
                </a:solidFill>
              </a:rPr>
              <a:t>Microsoft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560320" y="19659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4D4D4"/>
                </a:solidFill>
              </a:rPr>
              <a:t>Windows kernel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251460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EC9B0"/>
                </a:solidFill>
              </a:rPr>
              <a:t>Amazon AWS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560320" y="251460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4D4D4"/>
                </a:solidFill>
              </a:rPr>
              <a:t>Firecracker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0" y="86868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EC9B0"/>
                </a:solidFill>
              </a:rPr>
              <a:t>Discord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675120" y="86868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4D4D4"/>
                </a:solidFill>
              </a:rPr>
              <a:t>Сервіси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0" y="141732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EC9B0"/>
                </a:solidFill>
              </a:rPr>
              <a:t>Cloudflare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675120" y="14173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4D4D4"/>
                </a:solidFill>
              </a:rPr>
              <a:t>Edge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0" y="19659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EC9B0"/>
                </a:solidFill>
              </a:rPr>
              <a:t>Linux Kernel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675120" y="19659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4D4D4"/>
                </a:solidFill>
              </a:rPr>
              <a:t>Драйвери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0" y="251460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EC9B0"/>
                </a:solidFill>
              </a:rPr>
              <a:t>Dropbox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675120" y="251460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4D4D4"/>
                </a:solidFill>
              </a:rPr>
              <a:t>Sync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200400"/>
            <a:ext cx="8229600" cy="548640"/>
          </a:xfrm>
          <a:prstGeom prst="rect">
            <a:avLst/>
          </a:prstGeom>
          <a:solidFill>
            <a:srgbClr val="3E2723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32918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4D4D4"/>
                </a:solidFill>
              </a:rPr>
              <a:t>70% вразливостей Microsoft — помилки пам'яті. Rust усуває їх на етапі компіляції.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CE422B"/>
                </a:solidFill>
              </a:rPr>
              <a:t>Що таке термінал?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D4D4D4"/>
                </a:solidFill>
              </a:rPr>
              <a:t>Термінал (командний рядок) — текстовий інтерфейс для керування комп'ютером. Замість кліків мишкою ви вводите команди текстом.</a:t>
            </a:r>
            <a:endParaRPr lang="en-US" sz="1200" dirty="0"/>
          </a:p>
          <a:p>
            <a:pPr marL="0" indent="0">
              <a:lnSpc>
                <a:spcPts val="2000"/>
              </a:lnSpc>
              <a:buNone/>
            </a:pPr>
            <a:endParaRPr lang="en-US" sz="12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D4D4D4"/>
                </a:solidFill>
              </a:rPr>
              <a:t>Як відкрити:</a:t>
            </a:r>
            <a:endParaRPr lang="en-US" sz="12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D4D4D4"/>
                </a:solidFill>
              </a:rPr>
              <a:t>Windows:  Win+R → cmd → Enter  або  PowerShell</a:t>
            </a:r>
            <a:endParaRPr lang="en-US" sz="12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D4D4D4"/>
                </a:solidFill>
              </a:rPr>
              <a:t>macOS:    Cmd+Space → Terminal</a:t>
            </a:r>
            <a:endParaRPr lang="en-US" sz="12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D4D4D4"/>
                </a:solidFill>
              </a:rPr>
              <a:t>Linux:    Ctrl+Alt+T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2651760"/>
            <a:ext cx="8229600" cy="1097280"/>
          </a:xfrm>
          <a:prstGeom prst="rect">
            <a:avLst/>
          </a:prstGeom>
          <a:solidFill>
            <a:srgbClr val="0D3B2E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697480"/>
            <a:ext cx="8046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C:\Users\Student&gt; rustc --version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rustc 1.75.0 (82e1608df 2023-12-21)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↑ ви вводите команду    ↑ комп'ютер відповідає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CE422B"/>
                </a:solidFill>
              </a:rPr>
              <a:t>Встановлення Rust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D4D4D4"/>
                </a:solidFill>
              </a:rPr>
              <a:t>Для Windows:</a:t>
            </a:r>
            <a:endParaRPr lang="en-US" sz="12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D4D4D4"/>
                </a:solidFill>
              </a:rPr>
              <a:t>1. Відкрийте https://rustup.rs</a:t>
            </a:r>
            <a:endParaRPr lang="en-US" sz="12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D4D4D4"/>
                </a:solidFill>
              </a:rPr>
              <a:t>2. Натисніть "Download rustup-init.exe"</a:t>
            </a:r>
            <a:endParaRPr lang="en-US" sz="12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D4D4D4"/>
                </a:solidFill>
              </a:rPr>
              <a:t>3. Запустіть, натисніть Enter</a:t>
            </a:r>
            <a:endParaRPr lang="en-US" sz="12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D4D4D4"/>
                </a:solidFill>
              </a:rPr>
              <a:t>4. Дочекайтесь (5-15 хв)</a:t>
            </a:r>
            <a:endParaRPr lang="en-US" sz="12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D4D4D4"/>
                </a:solidFill>
              </a:rPr>
              <a:t>5. Перезапустіть термінал!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2377440"/>
            <a:ext cx="8229600" cy="548640"/>
          </a:xfrm>
          <a:prstGeom prst="rect">
            <a:avLst/>
          </a:prstGeom>
          <a:solidFill>
            <a:srgbClr val="0D3B2E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4231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Для macOS/Linux: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--proto '=https' --tlsv1.2 -sSf https://sh.rustup.rs | sh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3108960"/>
            <a:ext cx="8229600" cy="457200"/>
          </a:xfrm>
          <a:prstGeom prst="rect">
            <a:avLst/>
          </a:prstGeom>
          <a:solidFill>
            <a:srgbClr val="3E2723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320040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4D4D4"/>
                </a:solidFill>
              </a:rPr>
              <a:t>⚠️ Після встановлення обов'язково перезапустіть термінал!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CE422B"/>
                </a:solidFill>
              </a:rPr>
              <a:t>Перевірка встановлення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4D4D4"/>
                </a:solidFill>
              </a:rPr>
              <a:t>Відкрийте НОВИЙ термінал і введіть: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8229600" cy="1463040"/>
          </a:xfrm>
          <a:prstGeom prst="rect">
            <a:avLst/>
          </a:prstGeom>
          <a:solidFill>
            <a:srgbClr val="0D3B2E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234440"/>
            <a:ext cx="80467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C:\&gt; rustc --version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rustc 1.75.0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C:\&gt; cargo --version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cargo 1.75.0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C:\&gt; rustup --version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rustup 1.26.0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27432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08080"/>
                </a:solidFill>
              </a:rPr>
              <a:t>rustc — компілятор,  cargo — менеджер проєктів,  rustup — менеджер версій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EC9B0"/>
                </a:solidFill>
              </a:rPr>
              <a:t>Якщо бачите версії — все встановлено правильно!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CE422B"/>
                </a:solidFill>
              </a:rPr>
              <a:t>Інструмент cargo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4D4D4"/>
                </a:solidFill>
              </a:rPr>
              <a:t>cargo — головний інструмент Rust-розробника: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8229600" cy="2011680"/>
          </a:xfrm>
          <a:prstGeom prst="rect">
            <a:avLst/>
          </a:prstGeom>
          <a:solidFill>
            <a:srgbClr val="0D3B2E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234440"/>
            <a:ext cx="804672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cargo new my_project      # Створити проєкт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my_project             # Перейти в папку (ОБОВ'ЯЗКОВО!)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cargo build               # Скомпілювати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cargo run                 # Скомпілювати І запустити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cargo check               # Швидка перевірка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cargo test                # Запустити тести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cargo build --release     # Оптимізована збірка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 err="1">
                <a:solidFill>
                  <a:srgbClr val="CE422B"/>
                </a:solidFill>
              </a:rPr>
              <a:t>Встановлення</a:t>
            </a:r>
            <a:r>
              <a:rPr lang="en-US" sz="3200" b="1" dirty="0">
                <a:solidFill>
                  <a:srgbClr val="CE422B"/>
                </a:solidFill>
              </a:rPr>
              <a:t> Rust</a:t>
            </a:r>
            <a:r>
              <a:rPr lang="uk-UA" sz="3200" b="1" dirty="0">
                <a:solidFill>
                  <a:srgbClr val="CE422B"/>
                </a:solidFill>
              </a:rPr>
              <a:t> як розширення </a:t>
            </a:r>
            <a:r>
              <a:rPr lang="en-US" sz="3200" b="1" dirty="0">
                <a:solidFill>
                  <a:srgbClr val="CE422B"/>
                </a:solidFill>
              </a:rPr>
              <a:t>Visual Code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800665"/>
            <a:ext cx="8229600" cy="135049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just"/>
            <a:r>
              <a:rPr lang="uk-UA" sz="1100" dirty="0">
                <a:solidFill>
                  <a:schemeClr val="bg1"/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Встановлюємо та налаштовуємо </a:t>
            </a:r>
            <a:r>
              <a:rPr lang="uk-UA" sz="1100" dirty="0" err="1">
                <a:solidFill>
                  <a:schemeClr val="bg1"/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Visual</a:t>
            </a:r>
            <a:r>
              <a:rPr lang="uk-UA" sz="1100" dirty="0">
                <a:solidFill>
                  <a:schemeClr val="bg1"/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uk-UA" sz="1100" dirty="0" err="1">
                <a:solidFill>
                  <a:schemeClr val="bg1"/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Studio</a:t>
            </a:r>
            <a:r>
              <a:rPr lang="uk-UA" sz="1100" dirty="0">
                <a:solidFill>
                  <a:schemeClr val="bg1"/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uk-UA" sz="1100" dirty="0" err="1">
                <a:solidFill>
                  <a:schemeClr val="bg1"/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Code</a:t>
            </a:r>
            <a:endParaRPr lang="ru-RU" sz="1100" dirty="0">
              <a:solidFill>
                <a:schemeClr val="bg1"/>
              </a:solidFill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just"/>
            <a:r>
              <a:rPr lang="uk-UA" sz="1100" dirty="0">
                <a:solidFill>
                  <a:schemeClr val="bg1"/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По-перше, необхідно встановити </a:t>
            </a:r>
            <a:r>
              <a:rPr lang="uk-UA" sz="1100" dirty="0" err="1">
                <a:solidFill>
                  <a:schemeClr val="bg1"/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vs</a:t>
            </a:r>
            <a:r>
              <a:rPr lang="uk-UA" sz="1100" dirty="0">
                <a:solidFill>
                  <a:schemeClr val="bg1"/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uk-UA" sz="1100" dirty="0" err="1">
                <a:solidFill>
                  <a:schemeClr val="bg1"/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code</a:t>
            </a:r>
            <a:r>
              <a:rPr lang="uk-UA" sz="1100" dirty="0">
                <a:solidFill>
                  <a:schemeClr val="bg1"/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: https://code.visualstudio.com/</a:t>
            </a:r>
            <a:endParaRPr lang="ru-RU" sz="1100" dirty="0">
              <a:solidFill>
                <a:schemeClr val="bg1"/>
              </a:solidFill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just"/>
            <a:r>
              <a:rPr lang="uk-UA" sz="1100" dirty="0">
                <a:solidFill>
                  <a:schemeClr val="bg1"/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ru-RU" sz="1100" dirty="0">
              <a:solidFill>
                <a:schemeClr val="bg1"/>
              </a:solidFill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just"/>
            <a:r>
              <a:rPr lang="uk-UA" sz="1100" dirty="0">
                <a:solidFill>
                  <a:schemeClr val="bg1"/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Тепер нам потрібно навчити його працювати з </a:t>
            </a:r>
            <a:r>
              <a:rPr lang="uk-UA" sz="1100" dirty="0" err="1">
                <a:solidFill>
                  <a:schemeClr val="bg1"/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Rust</a:t>
            </a:r>
            <a:r>
              <a:rPr lang="uk-UA" sz="1100" dirty="0">
                <a:solidFill>
                  <a:schemeClr val="bg1"/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, це робиться за допомогою розширень. Перелічимо розширення, які рекомендовано встановити:</a:t>
            </a:r>
            <a:endParaRPr lang="ru-RU" sz="1100" dirty="0">
              <a:solidFill>
                <a:schemeClr val="bg1"/>
              </a:solidFill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just"/>
            <a:r>
              <a:rPr lang="uk-UA" sz="1100" dirty="0">
                <a:solidFill>
                  <a:schemeClr val="bg1"/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- розширення для підсвічування синтаксису та автодоповнень, </a:t>
            </a:r>
            <a:endParaRPr lang="ru-RU" sz="1100" dirty="0">
              <a:solidFill>
                <a:schemeClr val="bg1"/>
              </a:solidFill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just"/>
            <a:r>
              <a:rPr lang="uk-UA" sz="1100" dirty="0">
                <a:solidFill>
                  <a:schemeClr val="bg1"/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- розширення для </a:t>
            </a:r>
            <a:r>
              <a:rPr lang="uk-UA" sz="1100" dirty="0" err="1">
                <a:solidFill>
                  <a:schemeClr val="bg1"/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відладки</a:t>
            </a:r>
            <a:endParaRPr lang="ru-RU" sz="1100" dirty="0">
              <a:solidFill>
                <a:schemeClr val="bg1"/>
              </a:solidFill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171450" indent="-171450" algn="just">
              <a:buFontTx/>
              <a:buChar char="-"/>
            </a:pPr>
            <a:r>
              <a:rPr lang="uk-UA" sz="1100" dirty="0">
                <a:solidFill>
                  <a:schemeClr val="bg1"/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розширення для комфортного редагування </a:t>
            </a:r>
            <a:r>
              <a:rPr lang="uk-UA" sz="1100" dirty="0" err="1">
                <a:solidFill>
                  <a:schemeClr val="bg1"/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cargo.toml</a:t>
            </a:r>
            <a:r>
              <a:rPr lang="uk-UA" sz="1100" dirty="0">
                <a:solidFill>
                  <a:schemeClr val="bg1"/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  <a:endParaRPr lang="en-US" sz="1100" dirty="0">
              <a:solidFill>
                <a:schemeClr val="bg1"/>
              </a:solidFill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just"/>
            <a:endParaRPr lang="en-US" sz="1100" dirty="0">
              <a:solidFill>
                <a:schemeClr val="bg1"/>
              </a:solidFill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just"/>
            <a:r>
              <a:rPr lang="uk-UA" sz="1100" dirty="0">
                <a:solidFill>
                  <a:schemeClr val="bg1"/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Для підсвічування синтаксису та автодоповнень будемо використовувати </a:t>
            </a:r>
            <a:r>
              <a:rPr lang="uk-UA" sz="1100" dirty="0" err="1">
                <a:solidFill>
                  <a:schemeClr val="bg1"/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rust-analyzer</a:t>
            </a:r>
            <a:r>
              <a:rPr lang="uk-UA" sz="1100" dirty="0">
                <a:solidFill>
                  <a:schemeClr val="bg1"/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. </a:t>
            </a:r>
            <a:endParaRPr lang="ru-RU" sz="1100" dirty="0">
              <a:solidFill>
                <a:schemeClr val="bg1"/>
              </a:solidFill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just"/>
            <a:r>
              <a:rPr lang="uk-UA" sz="1100" dirty="0">
                <a:solidFill>
                  <a:schemeClr val="bg1"/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Для </a:t>
            </a:r>
            <a:r>
              <a:rPr lang="uk-UA" sz="1100" dirty="0" err="1">
                <a:solidFill>
                  <a:schemeClr val="bg1"/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відладки</a:t>
            </a:r>
            <a:r>
              <a:rPr lang="uk-UA" sz="1100" dirty="0">
                <a:solidFill>
                  <a:schemeClr val="bg1"/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встановлюємо </a:t>
            </a:r>
            <a:r>
              <a:rPr lang="uk-UA" sz="1100" dirty="0" err="1">
                <a:solidFill>
                  <a:schemeClr val="bg1"/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CodeLLDB</a:t>
            </a:r>
            <a:r>
              <a:rPr lang="uk-UA" sz="1100" dirty="0">
                <a:solidFill>
                  <a:schemeClr val="bg1"/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  <a:endParaRPr lang="ru-RU" sz="1100" dirty="0">
              <a:solidFill>
                <a:schemeClr val="bg1"/>
              </a:solidFill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just"/>
            <a:r>
              <a:rPr lang="uk-UA" sz="1100" dirty="0">
                <a:solidFill>
                  <a:schemeClr val="bg1"/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Для роботи з </a:t>
            </a:r>
            <a:r>
              <a:rPr lang="uk-UA" sz="1100" dirty="0" err="1">
                <a:solidFill>
                  <a:schemeClr val="bg1"/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toml</a:t>
            </a:r>
            <a:r>
              <a:rPr lang="uk-UA" sz="1100" dirty="0">
                <a:solidFill>
                  <a:schemeClr val="bg1"/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ставимо </a:t>
            </a:r>
            <a:r>
              <a:rPr lang="uk-UA" sz="1100" dirty="0" err="1">
                <a:solidFill>
                  <a:schemeClr val="bg1"/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Even</a:t>
            </a:r>
            <a:r>
              <a:rPr lang="uk-UA" sz="1100" dirty="0">
                <a:solidFill>
                  <a:schemeClr val="bg1"/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uk-UA" sz="1100" dirty="0" err="1">
                <a:solidFill>
                  <a:schemeClr val="bg1"/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Better</a:t>
            </a:r>
            <a:r>
              <a:rPr lang="uk-UA" sz="1100" dirty="0">
                <a:solidFill>
                  <a:schemeClr val="bg1"/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TOML (для підсвічування), </a:t>
            </a:r>
            <a:r>
              <a:rPr lang="uk-UA" sz="1100" dirty="0" err="1">
                <a:solidFill>
                  <a:schemeClr val="bg1"/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crates</a:t>
            </a:r>
            <a:r>
              <a:rPr lang="uk-UA" sz="1100" dirty="0">
                <a:solidFill>
                  <a:schemeClr val="bg1"/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(для зручного оновлення </a:t>
            </a:r>
            <a:r>
              <a:rPr lang="uk-UA" sz="1100" dirty="0" err="1">
                <a:solidFill>
                  <a:schemeClr val="bg1"/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залежностей</a:t>
            </a:r>
            <a:r>
              <a:rPr lang="uk-UA" sz="1100" dirty="0">
                <a:solidFill>
                  <a:schemeClr val="bg1"/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), та </a:t>
            </a:r>
            <a:r>
              <a:rPr lang="uk-UA" sz="1100" dirty="0" err="1">
                <a:solidFill>
                  <a:schemeClr val="bg1"/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crates</a:t>
            </a:r>
            <a:r>
              <a:rPr lang="uk-UA" sz="1100" dirty="0">
                <a:solidFill>
                  <a:schemeClr val="bg1"/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uk-UA" sz="1100" dirty="0" err="1">
                <a:solidFill>
                  <a:schemeClr val="bg1"/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completer</a:t>
            </a:r>
            <a:r>
              <a:rPr lang="uk-UA" sz="1100" dirty="0">
                <a:solidFill>
                  <a:schemeClr val="bg1"/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(для автодоповнення імен пакетів та версій)</a:t>
            </a:r>
            <a:endParaRPr lang="ru-RU" sz="1100" dirty="0">
              <a:solidFill>
                <a:schemeClr val="bg1"/>
              </a:solidFill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just"/>
            <a:r>
              <a:rPr lang="uk-UA" sz="1100" dirty="0">
                <a:solidFill>
                  <a:schemeClr val="bg1"/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Також, встановлюємо </a:t>
            </a:r>
            <a:r>
              <a:rPr lang="uk-UA" sz="1100" dirty="0" err="1">
                <a:solidFill>
                  <a:schemeClr val="bg1"/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Test</a:t>
            </a:r>
            <a:r>
              <a:rPr lang="uk-UA" sz="1100" dirty="0">
                <a:solidFill>
                  <a:schemeClr val="bg1"/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Explorer UI і </a:t>
            </a:r>
            <a:r>
              <a:rPr lang="uk-UA" sz="1100" dirty="0" err="1">
                <a:solidFill>
                  <a:schemeClr val="bg1"/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Rust</a:t>
            </a:r>
            <a:r>
              <a:rPr lang="uk-UA" sz="1100" dirty="0">
                <a:solidFill>
                  <a:schemeClr val="bg1"/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uk-UA" sz="1100" dirty="0" err="1">
                <a:solidFill>
                  <a:schemeClr val="bg1"/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Test</a:t>
            </a:r>
            <a:r>
              <a:rPr lang="uk-UA" sz="1100" dirty="0">
                <a:solidFill>
                  <a:schemeClr val="bg1"/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Explorer для того, щоб запускати тести з бічної панелі, а не з консолі.</a:t>
            </a:r>
            <a:endParaRPr lang="ru-RU" sz="1100" dirty="0">
              <a:solidFill>
                <a:schemeClr val="bg1"/>
              </a:solidFill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just"/>
            <a:r>
              <a:rPr lang="uk-UA" sz="1100" dirty="0">
                <a:solidFill>
                  <a:schemeClr val="bg1"/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Тепер можна створити порожній проект у консолі:</a:t>
            </a:r>
            <a:endParaRPr lang="ru-RU" sz="1100" dirty="0">
              <a:solidFill>
                <a:schemeClr val="bg1"/>
              </a:solidFill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just"/>
            <a:endParaRPr lang="en-US" sz="1100" dirty="0">
              <a:solidFill>
                <a:schemeClr val="bg1"/>
              </a:solidFill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171450" indent="-171450" algn="just">
              <a:buFontTx/>
              <a:buChar char="-"/>
            </a:pPr>
            <a:endParaRPr lang="ru-RU" sz="1100" dirty="0">
              <a:solidFill>
                <a:schemeClr val="bg1"/>
              </a:solidFill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indent="0">
              <a:lnSpc>
                <a:spcPts val="1800"/>
              </a:lnSpc>
              <a:buNone/>
            </a:pP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3559126"/>
            <a:ext cx="8229600" cy="852854"/>
          </a:xfrm>
          <a:prstGeom prst="rect">
            <a:avLst/>
          </a:prstGeom>
          <a:solidFill>
            <a:srgbClr val="0D3B2E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372618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just"/>
            <a:r>
              <a:rPr lang="en-US" sz="1100" dirty="0">
                <a:solidFill>
                  <a:schemeClr val="bg1"/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&gt;</a:t>
            </a:r>
            <a:r>
              <a:rPr lang="uk-UA" sz="1100" dirty="0" err="1">
                <a:solidFill>
                  <a:schemeClr val="bg1"/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mkdir</a:t>
            </a:r>
            <a:r>
              <a:rPr lang="uk-UA" sz="1100" dirty="0">
                <a:solidFill>
                  <a:schemeClr val="bg1"/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uk-UA" sz="1100" dirty="0" err="1">
                <a:solidFill>
                  <a:schemeClr val="bg1"/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my_rust_app</a:t>
            </a:r>
            <a:r>
              <a:rPr lang="uk-UA" sz="1100" dirty="0">
                <a:solidFill>
                  <a:schemeClr val="bg1"/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# створюємо папку </a:t>
            </a:r>
            <a:r>
              <a:rPr lang="uk-UA" sz="1100" dirty="0" err="1">
                <a:solidFill>
                  <a:schemeClr val="bg1"/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my_rust_app</a:t>
            </a:r>
            <a:endParaRPr lang="ru-RU" sz="1100" dirty="0">
              <a:solidFill>
                <a:schemeClr val="bg1"/>
              </a:solidFill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just"/>
            <a:r>
              <a:rPr lang="en-US" sz="1100" dirty="0">
                <a:solidFill>
                  <a:schemeClr val="bg1"/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&gt;</a:t>
            </a:r>
            <a:r>
              <a:rPr lang="uk-UA" sz="1100" dirty="0">
                <a:solidFill>
                  <a:schemeClr val="bg1"/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cd </a:t>
            </a:r>
            <a:r>
              <a:rPr lang="uk-UA" sz="1100" dirty="0" err="1">
                <a:solidFill>
                  <a:schemeClr val="bg1"/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my_rust_app</a:t>
            </a:r>
            <a:r>
              <a:rPr lang="uk-UA" sz="1100" dirty="0">
                <a:solidFill>
                  <a:schemeClr val="bg1"/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 # переходимо до неї</a:t>
            </a:r>
            <a:endParaRPr lang="ru-RU" sz="1100" dirty="0">
              <a:solidFill>
                <a:schemeClr val="bg1"/>
              </a:solidFill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just"/>
            <a:r>
              <a:rPr lang="en-US" sz="1100" dirty="0">
                <a:solidFill>
                  <a:schemeClr val="bg1"/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&gt;</a:t>
            </a:r>
            <a:r>
              <a:rPr lang="uk-UA" sz="1100" dirty="0" err="1">
                <a:solidFill>
                  <a:schemeClr val="bg1"/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cargo</a:t>
            </a:r>
            <a:r>
              <a:rPr lang="uk-UA" sz="1100" dirty="0">
                <a:solidFill>
                  <a:schemeClr val="bg1"/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uk-UA" sz="1100" dirty="0" err="1">
                <a:solidFill>
                  <a:schemeClr val="bg1"/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init</a:t>
            </a:r>
            <a:r>
              <a:rPr lang="uk-UA" sz="1100" dirty="0">
                <a:solidFill>
                  <a:schemeClr val="bg1"/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# </a:t>
            </a:r>
            <a:r>
              <a:rPr lang="uk-UA" sz="1100" dirty="0" err="1">
                <a:solidFill>
                  <a:schemeClr val="bg1"/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ініціалізуємо</a:t>
            </a:r>
            <a:r>
              <a:rPr lang="uk-UA" sz="1100" dirty="0">
                <a:solidFill>
                  <a:schemeClr val="bg1"/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в ній мінімальний проект</a:t>
            </a:r>
            <a:endParaRPr lang="ru-RU" sz="1100" dirty="0">
              <a:solidFill>
                <a:schemeClr val="bg1"/>
              </a:solidFill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just"/>
            <a:r>
              <a:rPr lang="en-US" sz="1100" dirty="0">
                <a:solidFill>
                  <a:schemeClr val="bg1"/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&gt;</a:t>
            </a:r>
            <a:r>
              <a:rPr lang="uk-UA" sz="1100" dirty="0" err="1">
                <a:solidFill>
                  <a:schemeClr val="bg1"/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code</a:t>
            </a:r>
            <a:r>
              <a:rPr lang="uk-UA" sz="1100" dirty="0">
                <a:solidFill>
                  <a:schemeClr val="bg1"/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. ./src/main.rs # відкриваємо </a:t>
            </a:r>
            <a:r>
              <a:rPr lang="uk-UA" sz="1100" dirty="0" err="1">
                <a:solidFill>
                  <a:schemeClr val="bg1"/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vscode</a:t>
            </a:r>
            <a:endParaRPr lang="ru-RU" sz="1100" dirty="0">
              <a:solidFill>
                <a:schemeClr val="bg1"/>
              </a:solidFill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4411980"/>
            <a:ext cx="8229600" cy="457200"/>
          </a:xfrm>
          <a:prstGeom prst="rect">
            <a:avLst/>
          </a:prstGeom>
          <a:solidFill>
            <a:srgbClr val="3E2723"/>
          </a:solidFill>
          <a:ln/>
        </p:spPr>
        <p:txBody>
          <a:bodyPr/>
          <a:lstStyle/>
          <a:p>
            <a:endParaRPr lang="ru-RU" dirty="0"/>
          </a:p>
        </p:txBody>
      </p:sp>
      <p:sp>
        <p:nvSpPr>
          <p:cNvPr id="7" name="Text 5"/>
          <p:cNvSpPr/>
          <p:nvPr/>
        </p:nvSpPr>
        <p:spPr>
          <a:xfrm>
            <a:off x="548640" y="45034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4D4D4"/>
                </a:solidFill>
              </a:rPr>
              <a:t>⚠️ </a:t>
            </a:r>
            <a:r>
              <a:rPr lang="uk-UA" sz="1100" b="1" dirty="0">
                <a:solidFill>
                  <a:srgbClr val="D4D4D4"/>
                </a:solidFill>
              </a:rPr>
              <a:t>Відкриється </a:t>
            </a:r>
            <a:r>
              <a:rPr lang="en-US" sz="1100" b="1" dirty="0">
                <a:solidFill>
                  <a:srgbClr val="D4D4D4"/>
                </a:solidFill>
              </a:rPr>
              <a:t>Visual Code </a:t>
            </a:r>
            <a:r>
              <a:rPr lang="uk-UA" sz="1100" b="1" dirty="0">
                <a:solidFill>
                  <a:srgbClr val="D4D4D4"/>
                </a:solidFill>
              </a:rPr>
              <a:t>із </a:t>
            </a:r>
            <a:r>
              <a:rPr lang="uk-UA" sz="1100" b="1" dirty="0" err="1">
                <a:solidFill>
                  <a:srgbClr val="D4D4D4"/>
                </a:solidFill>
              </a:rPr>
              <a:t>проєктом</a:t>
            </a:r>
            <a:r>
              <a:rPr lang="en-US" sz="1100" b="1" dirty="0">
                <a:solidFill>
                  <a:srgbClr val="D4D4D4"/>
                </a:solidFill>
              </a:rPr>
              <a:t>!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154340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CE422B"/>
                </a:solidFill>
              </a:rPr>
              <a:t>Структура проєкту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3657600" cy="1828800"/>
          </a:xfrm>
          <a:prstGeom prst="rect">
            <a:avLst/>
          </a:prstGeom>
          <a:solidFill>
            <a:srgbClr val="0D3B2E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86868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my_project/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Cargo.toml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src/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main.rs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target/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└── debug/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└── my_project.exe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297680" y="822960"/>
            <a:ext cx="4389120" cy="548640"/>
          </a:xfrm>
          <a:prstGeom prst="rect">
            <a:avLst/>
          </a:prstGeom>
          <a:solidFill>
            <a:srgbClr val="252526"/>
          </a:solidFill>
          <a:ln/>
        </p:spPr>
      </p:sp>
      <p:sp>
        <p:nvSpPr>
          <p:cNvPr id="6" name="Text 4"/>
          <p:cNvSpPr/>
          <p:nvPr/>
        </p:nvSpPr>
        <p:spPr>
          <a:xfrm>
            <a:off x="4389120" y="91440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4D4D4"/>
                </a:solidFill>
              </a:rPr>
              <a:t>Cargo.toml — налаштування: назва, залежності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297680" y="1463040"/>
            <a:ext cx="4389120" cy="548640"/>
          </a:xfrm>
          <a:prstGeom prst="rect">
            <a:avLst/>
          </a:prstGeom>
          <a:solidFill>
            <a:srgbClr val="252526"/>
          </a:solidFill>
          <a:ln/>
        </p:spPr>
      </p:sp>
      <p:sp>
        <p:nvSpPr>
          <p:cNvPr id="8" name="Text 6"/>
          <p:cNvSpPr/>
          <p:nvPr/>
        </p:nvSpPr>
        <p:spPr>
          <a:xfrm>
            <a:off x="4389120" y="155448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CDCAA"/>
                </a:solidFill>
              </a:rPr>
              <a:t>src/main.rs — ВАШ КОД ТУТ!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297680" y="2103120"/>
            <a:ext cx="4389120" cy="548640"/>
          </a:xfrm>
          <a:prstGeom prst="rect">
            <a:avLst/>
          </a:prstGeom>
          <a:solidFill>
            <a:srgbClr val="252526"/>
          </a:solidFill>
          <a:ln/>
        </p:spPr>
      </p:sp>
      <p:sp>
        <p:nvSpPr>
          <p:cNvPr id="10" name="Text 8"/>
          <p:cNvSpPr/>
          <p:nvPr/>
        </p:nvSpPr>
        <p:spPr>
          <a:xfrm>
            <a:off x="4389120" y="219456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4D4D4"/>
                </a:solidFill>
              </a:rPr>
              <a:t>target/ — скомпільовані файли (.exe)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CE422B"/>
                </a:solidFill>
              </a:rPr>
              <a:t>Перша програма: Сі vs Rust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3931920" cy="2011680"/>
          </a:xfrm>
          <a:prstGeom prst="rect">
            <a:avLst/>
          </a:prstGeom>
          <a:solidFill>
            <a:srgbClr val="264F78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8686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Сі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188720"/>
            <a:ext cx="37490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&lt;stdio.h&gt;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printf("Hello!\n");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0;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754880" y="822960"/>
            <a:ext cx="3931920" cy="2011680"/>
          </a:xfrm>
          <a:prstGeom prst="rect">
            <a:avLst/>
          </a:prstGeom>
          <a:solidFill>
            <a:srgbClr val="0D3B2E"/>
          </a:solidFill>
          <a:ln/>
        </p:spPr>
      </p:sp>
      <p:sp>
        <p:nvSpPr>
          <p:cNvPr id="7" name="Text 5"/>
          <p:cNvSpPr/>
          <p:nvPr/>
        </p:nvSpPr>
        <p:spPr>
          <a:xfrm>
            <a:off x="4846320" y="8686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E422B"/>
                </a:solidFill>
              </a:rPr>
              <a:t>Rust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846320" y="1188720"/>
            <a:ext cx="37490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fn main() {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println!("Hello!");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971800"/>
            <a:ext cx="8229600" cy="731520"/>
          </a:xfrm>
          <a:prstGeom prst="rect">
            <a:avLst/>
          </a:prstGeom>
          <a:solidFill>
            <a:srgbClr val="252526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31089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4D4D4"/>
                </a:solidFill>
              </a:rPr>
              <a:t>Відмінності: немає #include • fn замість int • println! замість printf • немає return 0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CE422B"/>
                </a:solidFill>
              </a:rPr>
              <a:t>Перша програма: fn main()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457200"/>
          </a:xfrm>
          <a:prstGeom prst="rect">
            <a:avLst/>
          </a:prstGeom>
          <a:solidFill>
            <a:srgbClr val="0D3B2E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86868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fn main() {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D4D4D4"/>
                </a:solidFill>
              </a:rPr>
              <a:t>Тіло програми завжди міститься у функції з назвою main.</a:t>
            </a:r>
            <a:endParaRPr lang="en-US" sz="1200" dirty="0"/>
          </a:p>
          <a:p>
            <a:pPr marL="0" indent="0">
              <a:lnSpc>
                <a:spcPts val="1800"/>
              </a:lnSpc>
              <a:buNone/>
            </a:pPr>
            <a:endParaRPr lang="en-US" sz="12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D4D4D4"/>
                </a:solidFill>
              </a:rPr>
              <a:t>fn — ключове слово для оголошення функції (від "function").</a:t>
            </a:r>
            <a:endParaRPr lang="en-US" sz="12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D4D4D4"/>
                </a:solidFill>
              </a:rPr>
              <a:t>Порожні дужки () означають, що функція не приймає параметрів.</a:t>
            </a:r>
            <a:endParaRPr lang="en-US" sz="12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D4D4D4"/>
                </a:solidFill>
              </a:rPr>
              <a:t>Фігурна дужка { починає тіло функції.</a:t>
            </a:r>
            <a:endParaRPr lang="en-US" sz="1200" dirty="0"/>
          </a:p>
          <a:p>
            <a:pPr marL="0" indent="0">
              <a:lnSpc>
                <a:spcPts val="1800"/>
              </a:lnSpc>
              <a:buNone/>
            </a:pPr>
            <a:endParaRPr lang="en-US" sz="12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D4D4D4"/>
                </a:solidFill>
              </a:rPr>
              <a:t>У Rust немає int перед main(). На відміну від Сі, де main повертає int, у Rust функція main за замовчуванням нічого не повертає.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CE422B"/>
                </a:solidFill>
              </a:rPr>
              <a:t>Перша програма: println!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457200"/>
          </a:xfrm>
          <a:prstGeom prst="rect">
            <a:avLst/>
          </a:prstGeom>
          <a:solidFill>
            <a:srgbClr val="0D3B2E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86868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println!("Hello world!");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00" dirty="0">
                <a:solidFill>
                  <a:srgbClr val="D4D4D4"/>
                </a:solidFill>
              </a:rPr>
              <a:t>println! — макрос для виведення тексту на екран.</a:t>
            </a:r>
            <a:endParaRPr lang="en-US" sz="1100" dirty="0"/>
          </a:p>
          <a:p>
            <a:pPr marL="0" indent="0">
              <a:lnSpc>
                <a:spcPts val="1600"/>
              </a:lnSpc>
              <a:buNone/>
            </a:pPr>
            <a:endParaRPr lang="en-US" sz="11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100" dirty="0">
                <a:solidFill>
                  <a:srgbClr val="D4D4D4"/>
                </a:solidFill>
              </a:rPr>
              <a:t>Знак оклику ! означає, що це макрос, а не звичайна функція.</a:t>
            </a:r>
            <a:endParaRPr lang="en-US" sz="1100" dirty="0"/>
          </a:p>
          <a:p>
            <a:pPr marL="0" indent="0">
              <a:lnSpc>
                <a:spcPts val="1600"/>
              </a:lnSpc>
              <a:buNone/>
            </a:pPr>
            <a:endParaRPr lang="en-US" sz="11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100" dirty="0">
                <a:solidFill>
                  <a:srgbClr val="D4D4D4"/>
                </a:solidFill>
              </a:rPr>
              <a:t>Текст береться в подвійні лапки "...".</a:t>
            </a:r>
            <a:endParaRPr lang="en-US" sz="1100" dirty="0"/>
          </a:p>
          <a:p>
            <a:pPr marL="0" indent="0">
              <a:lnSpc>
                <a:spcPts val="1600"/>
              </a:lnSpc>
              <a:buNone/>
            </a:pPr>
            <a:endParaRPr lang="en-US" sz="11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100" dirty="0">
                <a:solidFill>
                  <a:srgbClr val="D4D4D4"/>
                </a:solidFill>
              </a:rPr>
              <a:t>\n — перехід на новий рядок. Але println! автоматично додає новий рядок.</a:t>
            </a:r>
            <a:endParaRPr lang="en-US" sz="1100" dirty="0"/>
          </a:p>
          <a:p>
            <a:pPr marL="0" indent="0">
              <a:lnSpc>
                <a:spcPts val="1600"/>
              </a:lnSpc>
              <a:buNone/>
            </a:pPr>
            <a:endParaRPr lang="en-US" sz="11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100" dirty="0">
                <a:solidFill>
                  <a:srgbClr val="D4D4D4"/>
                </a:solidFill>
              </a:rPr>
              <a:t>Крапка з комою ; — обов'язкова в кінці!</a:t>
            </a:r>
            <a:endParaRPr lang="en-US" sz="1100" dirty="0"/>
          </a:p>
          <a:p>
            <a:pPr marL="0" indent="0">
              <a:lnSpc>
                <a:spcPts val="1600"/>
              </a:lnSpc>
              <a:buNone/>
            </a:pPr>
            <a:endParaRPr lang="en-US" sz="11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100" dirty="0">
                <a:solidFill>
                  <a:srgbClr val="D4D4D4"/>
                </a:solidFill>
              </a:rPr>
              <a:t>Хороший тон: все в фігурних дужках зсувати вправо (відступи).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CE422B"/>
                </a:solidFill>
              </a:rPr>
              <a:t>Спецсимволи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\n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188720" y="8686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4D4D4"/>
                </a:solidFill>
              </a:rPr>
              <a:t>— новий рядок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\t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88720" y="13258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4D4D4"/>
                </a:solidFill>
              </a:rPr>
              <a:t>— табуляція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\r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188720" y="17830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4D4D4"/>
                </a:solidFill>
              </a:rPr>
              <a:t>— повернення каретки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224028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\\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88720" y="22402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4D4D4"/>
                </a:solidFill>
              </a:rPr>
              <a:t>— зворотна коса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0" y="86868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\"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303520" y="8686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4D4D4"/>
                </a:solidFill>
              </a:rPr>
              <a:t>— подвійна лапка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0" y="132588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\'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303520" y="13258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4D4D4"/>
                </a:solidFill>
              </a:rPr>
              <a:t>— апостроф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0" y="178308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\0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303520" y="17830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4D4D4"/>
                </a:solidFill>
              </a:rPr>
              <a:t>— нульовий символ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0" y="224028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\x41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303520" y="22402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4D4D4"/>
                </a:solidFill>
              </a:rPr>
              <a:t>— hex код (A)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2926080"/>
            <a:ext cx="8229600" cy="457200"/>
          </a:xfrm>
          <a:prstGeom prst="rect">
            <a:avLst/>
          </a:prstGeom>
          <a:solidFill>
            <a:srgbClr val="0D3B2E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29718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println!("Рядок 1\nРядок 2");  // Виведе два рядки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CE422B"/>
                </a:solidFill>
              </a:rPr>
              <a:t>Форматування виводу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4D4D4"/>
                </a:solidFill>
              </a:rPr>
              <a:t>У Rust замість %d, %f використовуються {}: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3931920" cy="1097280"/>
          </a:xfrm>
          <a:prstGeom prst="rect">
            <a:avLst/>
          </a:prstGeom>
          <a:solidFill>
            <a:srgbClr val="264F78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234440"/>
            <a:ext cx="3749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Сі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printf("x = %d", x);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754880" y="1143000"/>
            <a:ext cx="3931920" cy="1097280"/>
          </a:xfrm>
          <a:prstGeom prst="rect">
            <a:avLst/>
          </a:prstGeom>
          <a:solidFill>
            <a:srgbClr val="0D3B2E"/>
          </a:solidFill>
          <a:ln/>
        </p:spPr>
      </p:sp>
      <p:sp>
        <p:nvSpPr>
          <p:cNvPr id="7" name="Text 5"/>
          <p:cNvSpPr/>
          <p:nvPr/>
        </p:nvSpPr>
        <p:spPr>
          <a:xfrm>
            <a:off x="4846320" y="1234440"/>
            <a:ext cx="3749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Rust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println!("x = {}", x);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2377440"/>
            <a:ext cx="8229600" cy="1097280"/>
          </a:xfrm>
          <a:prstGeom prst="rect">
            <a:avLst/>
          </a:prstGeom>
          <a:solidFill>
            <a:srgbClr val="0D3B2E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423160"/>
            <a:ext cx="8046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a = 5;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b = 10;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println!("{} + {} = {}", a, b, a + b);  // 5 + 10 = 15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println!("point = {:?}", (3, 4));        // point = (3, 4)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CE422B"/>
                </a:solidFill>
              </a:rPr>
              <a:t>Що таке змінна?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4D4D4"/>
                </a:solidFill>
              </a:rPr>
              <a:t>Змінна — це іменована область пам'яті, де зберігається значення.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D4D4D4"/>
                </a:solidFill>
              </a:rPr>
              <a:t>Можна уявити як підписану коробку з даними всередині.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8229600" cy="411480"/>
          </a:xfrm>
          <a:prstGeom prst="rect">
            <a:avLst/>
          </a:prstGeom>
          <a:solidFill>
            <a:srgbClr val="0D3B2E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5087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x = 5;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00" dirty="0">
                <a:solidFill>
                  <a:srgbClr val="D4D4D4"/>
                </a:solidFill>
              </a:rPr>
              <a:t>let — ключове слово для оголошення змінної</a:t>
            </a:r>
            <a:endParaRPr lang="en-US" sz="11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100" dirty="0">
                <a:solidFill>
                  <a:srgbClr val="D4D4D4"/>
                </a:solidFill>
              </a:rPr>
              <a:t>x — ім'я змінної (ідентифікатор)</a:t>
            </a:r>
            <a:endParaRPr lang="en-US" sz="11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100" dirty="0">
                <a:solidFill>
                  <a:srgbClr val="D4D4D4"/>
                </a:solidFill>
              </a:rPr>
              <a:t>= — оператор присвоєння</a:t>
            </a:r>
            <a:endParaRPr lang="en-US" sz="11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100" dirty="0">
                <a:solidFill>
                  <a:srgbClr val="D4D4D4"/>
                </a:solidFill>
              </a:rPr>
              <a:t>5 — значення</a:t>
            </a:r>
            <a:endParaRPr lang="en-US" sz="11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100" dirty="0">
                <a:solidFill>
                  <a:srgbClr val="D4D4D4"/>
                </a:solidFill>
              </a:rPr>
              <a:t>; — кінець інструкції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3200400"/>
            <a:ext cx="8229600" cy="457200"/>
          </a:xfrm>
          <a:prstGeom prst="rect">
            <a:avLst/>
          </a:prstGeom>
          <a:solidFill>
            <a:srgbClr val="252526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329184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CDCAA"/>
                </a:solidFill>
              </a:rPr>
              <a:t>У Rust змінна — це ВЛАСНИК даних, а не посилання (як у Python).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CE422B"/>
                </a:solidFill>
              </a:rPr>
              <a:t>Змінні: let та let mut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CDCAA"/>
                </a:solidFill>
              </a:rPr>
              <a:t>ВАЖЛИВО: В Rust змінні за замовчуванням НЕЗМІННІ!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3931920" cy="1463040"/>
          </a:xfrm>
          <a:prstGeom prst="rect">
            <a:avLst/>
          </a:prstGeom>
          <a:solidFill>
            <a:srgbClr val="3E2723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234440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44747"/>
                </a:solidFill>
              </a:rPr>
              <a:t>❌ Без mut — помилка: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508760"/>
            <a:ext cx="37490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x = 5;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10;  // ❌ ПОМИЛКА!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error: cannot assign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twice to immutable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754880" y="1188720"/>
            <a:ext cx="3931920" cy="1463040"/>
          </a:xfrm>
          <a:prstGeom prst="rect">
            <a:avLst/>
          </a:prstGeom>
          <a:solidFill>
            <a:srgbClr val="1E4620"/>
          </a:solidFill>
          <a:ln/>
        </p:spPr>
      </p:sp>
      <p:sp>
        <p:nvSpPr>
          <p:cNvPr id="8" name="Text 6"/>
          <p:cNvSpPr/>
          <p:nvPr/>
        </p:nvSpPr>
        <p:spPr>
          <a:xfrm>
            <a:off x="4846320" y="1234440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EC9B0"/>
                </a:solidFill>
              </a:rPr>
              <a:t>✓ З mut — OK: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846320" y="1508760"/>
            <a:ext cx="37490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mut x = 5;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10;  // ✓ OK!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mut = mutable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= змінний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2834640"/>
            <a:ext cx="8229600" cy="868680"/>
          </a:xfrm>
          <a:prstGeom prst="rect">
            <a:avLst/>
          </a:prstGeom>
          <a:solidFill>
            <a:srgbClr val="252526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297180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4D4D4"/>
                </a:solidFill>
              </a:rPr>
              <a:t>Навіщо? Запобігає випадковим змінам • Код легше читати • Краща оптимізація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CE422B"/>
                </a:solidFill>
              </a:rPr>
              <a:t>Імена змінних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4D4D4"/>
                </a:solidFill>
              </a:rPr>
              <a:t>• Починаються з букви або _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D4D4D4"/>
                </a:solidFill>
              </a:rPr>
              <a:t>• Містять букви, цифри, _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D4D4D4"/>
                </a:solidFill>
              </a:rPr>
              <a:t>• Регістр важливий (x ≠ X)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D4D4D4"/>
                </a:solidFill>
              </a:rPr>
              <a:t>• Не можуть бути зарезервованими словами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1828800"/>
            <a:ext cx="8229600" cy="1371600"/>
          </a:xfrm>
          <a:prstGeom prst="rect">
            <a:avLst/>
          </a:prstGeom>
          <a:solidFill>
            <a:srgbClr val="0D3B2E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87452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Правильні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age = 25;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user_name = "Олексій";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Неправильні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let 2point = 5;  // цифра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let fn = 5;      // зарезервоване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3337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08080"/>
                </a:solidFill>
              </a:rPr>
              <a:t>Хороший тон: snake_case (user_name), зрозумілі імена (age, не a)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CE422B"/>
                </a:solidFill>
              </a:rPr>
              <a:t>Типи змінних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solidFill>
            <a:srgbClr val="252526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804672"/>
            <a:ext cx="8046720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EC9B0"/>
                </a:solidFill>
              </a:rPr>
              <a:t>Тип      Розмір     Діапазон              Приклад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0972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i8       1 байт     -128...127            let a: i8 = -50;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8229600" cy="27432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37160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i32      4 байти    ±2 млрд               let a = 42;  // за замовч.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57200" y="1645920"/>
            <a:ext cx="8229600" cy="274320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6459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i64      8 байт     ±9·10¹⁸               let a: i64 = 9999999999;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57200" y="1920240"/>
            <a:ext cx="8229600" cy="27432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192024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u8       1 байт     0...255               let a: u8 = 255;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57200" y="2194560"/>
            <a:ext cx="8229600" cy="274320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2194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u32      4 байти    0...4 млрд            let a: u32 = 100;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57200" y="2468880"/>
            <a:ext cx="8229600" cy="27432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2468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f32      4 байти    ±3.4·10³⁸             let a: f32 = 3.14;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7200" y="2743200"/>
            <a:ext cx="8229600" cy="274320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274320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f64      8 байт     ±1.7·10³⁰⁸            let a = 3.14;  // за замовч.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57200" y="3017520"/>
            <a:ext cx="8229600" cy="27432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30175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     1 байт     true, false           let a = true;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57200" y="3291840"/>
            <a:ext cx="8229600" cy="274320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329184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     4 байти    Unicode               let a = 'Я';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57200" y="365760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08080"/>
                </a:solidFill>
              </a:rPr>
              <a:t>i = signed, u = unsigned, f = float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CE422B"/>
                </a:solidFill>
              </a:rPr>
              <a:t>Цілі числа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1828800"/>
          </a:xfrm>
          <a:prstGeom prst="rect">
            <a:avLst/>
          </a:prstGeom>
          <a:solidFill>
            <a:srgbClr val="0D3B2E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868680"/>
            <a:ext cx="8046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a = 42;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million = 1_000_000;   // підкреслення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hex = 0xFF;            // = 255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octal = 0o77;          // = 63 (0o!)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binary = 0b1010;       // = 10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a = 42i64;             // суфікс типу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b = 100u8;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2788920"/>
            <a:ext cx="8229600" cy="914400"/>
          </a:xfrm>
          <a:prstGeom prst="rect">
            <a:avLst/>
          </a:prstGeom>
          <a:solidFill>
            <a:srgbClr val="252526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97180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4D4D4"/>
                </a:solidFill>
              </a:rPr>
              <a:t>Відмінність від Сі: вісімкові 0o77 (не 077), двійкові 0b1010, підкреслення 1_000_000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CE422B"/>
                </a:solidFill>
              </a:rPr>
              <a:t>Дробові числа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914400"/>
          </a:xfrm>
          <a:prstGeom prst="rect">
            <a:avLst/>
          </a:prstGeom>
          <a:solidFill>
            <a:srgbClr val="0D3B2E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86868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pi = 3.14159;        // f64 за замовч.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e: f32 = 2.718;      // явно f32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avogadro = 6.022e23; // експонента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874520"/>
            <a:ext cx="8229600" cy="1371600"/>
          </a:xfrm>
          <a:prstGeom prst="rect">
            <a:avLst/>
          </a:prstGeom>
          <a:solidFill>
            <a:srgbClr val="3E2723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92024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44747"/>
                </a:solidFill>
              </a:rPr>
              <a:t>⚠️ Цілі та дробові НЕ МОЖНА змішувати!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224028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x: i32 = 5;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y: f64 = 2.0;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z = x + y;        // ❌ ПОМИЛКА!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z = x as f64 + y; // ✓ Явне перетворення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CE422B"/>
                </a:solidFill>
              </a:rPr>
              <a:t>Логічний тип bool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1554480"/>
          </a:xfrm>
          <a:prstGeom prst="rect">
            <a:avLst/>
          </a:prstGeom>
          <a:solidFill>
            <a:srgbClr val="0D3B2E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868680"/>
            <a:ext cx="8046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is_active: bool = true;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is_finished = false;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is_less = 5 &lt; 10;    // true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is_active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println!("Активний");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2514600"/>
            <a:ext cx="8229600" cy="1188720"/>
          </a:xfrm>
          <a:prstGeom prst="rect">
            <a:avLst/>
          </a:prstGeom>
          <a:solidFill>
            <a:srgbClr val="252526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560320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CDCAA"/>
                </a:solidFill>
              </a:rPr>
              <a:t>Відмінність від Сі: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2834640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4D4D4"/>
                </a:solidFill>
              </a:rPr>
              <a:t>• У Сі: 0 = false, інше = true. Можна if (x)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D4D4D4"/>
                </a:solidFill>
              </a:rPr>
              <a:t>• У Rust: тільки true/false. if x — помилка! Треба if x != 0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CE422B"/>
                </a:solidFill>
              </a:rPr>
              <a:t>Символьний тип char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4D4D4"/>
                </a:solidFill>
              </a:rPr>
              <a:t>char — один символ Unicode. ОДИНАРНІ лапки!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8229600" cy="1097280"/>
          </a:xfrm>
          <a:prstGeom prst="rect">
            <a:avLst/>
          </a:prstGeom>
          <a:solidFill>
            <a:srgbClr val="0D3B2E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234440"/>
            <a:ext cx="8046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letter: char = 'A';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ukrainian = 'Я';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emoji = '🦀';       // Емодзі теж!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newline = '\n';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2423160"/>
            <a:ext cx="3931920" cy="1280160"/>
          </a:xfrm>
          <a:prstGeom prst="rect">
            <a:avLst/>
          </a:prstGeom>
          <a:solidFill>
            <a:srgbClr val="252526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2606040"/>
            <a:ext cx="3749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4D4D4"/>
                </a:solidFill>
              </a:rPr>
              <a:t>Сі char = 1 байт (ASCII)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D4D4D4"/>
                </a:solidFill>
              </a:rPr>
              <a:t>Rust char = 4 байти (UTF-32)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754880" y="2423160"/>
            <a:ext cx="3931920" cy="1280160"/>
          </a:xfrm>
          <a:prstGeom prst="rect">
            <a:avLst/>
          </a:prstGeom>
          <a:solidFill>
            <a:srgbClr val="3E2723"/>
          </a:solidFill>
          <a:ln/>
        </p:spPr>
      </p:sp>
      <p:sp>
        <p:nvSpPr>
          <p:cNvPr id="9" name="Text 7"/>
          <p:cNvSpPr/>
          <p:nvPr/>
        </p:nvSpPr>
        <p:spPr>
          <a:xfrm>
            <a:off x="4846320" y="2606040"/>
            <a:ext cx="3749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4D4D4"/>
                </a:solidFill>
              </a:rPr>
              <a:t>⚠️ 'A' (char) ≠ "A" (рядок)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CE422B"/>
                </a:solidFill>
              </a:rPr>
              <a:t>Рядки: &amp;str та String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3931920" cy="914400"/>
          </a:xfrm>
          <a:prstGeom prst="rect">
            <a:avLst/>
          </a:prstGeom>
          <a:solidFill>
            <a:srgbClr val="252526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914400"/>
            <a:ext cx="3749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4D4D4"/>
                </a:solidFill>
              </a:rPr>
              <a:t>&amp;str — фіксований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D4D4D4"/>
                </a:solidFill>
              </a:rPr>
              <a:t>let s = "Hello";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754880" y="822960"/>
            <a:ext cx="3931920" cy="914400"/>
          </a:xfrm>
          <a:prstGeom prst="rect">
            <a:avLst/>
          </a:prstGeom>
          <a:solidFill>
            <a:srgbClr val="252526"/>
          </a:solidFill>
          <a:ln/>
        </p:spPr>
      </p:sp>
      <p:sp>
        <p:nvSpPr>
          <p:cNvPr id="6" name="Text 4"/>
          <p:cNvSpPr/>
          <p:nvPr/>
        </p:nvSpPr>
        <p:spPr>
          <a:xfrm>
            <a:off x="4846320" y="914400"/>
            <a:ext cx="3749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4D4D4"/>
                </a:solidFill>
              </a:rPr>
              <a:t>String — динамічний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D4D4D4"/>
                </a:solidFill>
              </a:rPr>
              <a:t>let s = String::from("Hi");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920240"/>
            <a:ext cx="8229600" cy="1645920"/>
          </a:xfrm>
          <a:prstGeom prst="rect">
            <a:avLst/>
          </a:prstGeom>
          <a:solidFill>
            <a:srgbClr val="0D3B2E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965960"/>
            <a:ext cx="80467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Конкатенація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hello = String::from("Hello, ");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world = "World!";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msg = hello + world;  // "Hello, World!"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format!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msg = format!("{} {}!", "Hello", "World");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CE422B"/>
                </a:solidFill>
              </a:rPr>
              <a:t>Операції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438912"/>
          </a:xfrm>
          <a:prstGeom prst="rect">
            <a:avLst/>
          </a:prstGeom>
          <a:solidFill>
            <a:srgbClr val="252526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822960"/>
            <a:ext cx="45720" cy="438912"/>
          </a:xfrm>
          <a:prstGeom prst="rect">
            <a:avLst/>
          </a:prstGeom>
          <a:solidFill>
            <a:srgbClr val="4EC9B0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841248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EC9B0"/>
                </a:solidFill>
              </a:rPr>
              <a:t>Арифметичні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468880" y="841248"/>
            <a:ext cx="6126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 -  *  /  %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325880"/>
            <a:ext cx="8229600" cy="438912"/>
          </a:xfrm>
          <a:prstGeom prst="rect">
            <a:avLst/>
          </a:prstGeom>
          <a:solidFill>
            <a:srgbClr val="252526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1325880"/>
            <a:ext cx="45720" cy="438912"/>
          </a:xfrm>
          <a:prstGeom prst="rect">
            <a:avLst/>
          </a:prstGeom>
          <a:solidFill>
            <a:srgbClr val="569CD6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1344168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69CD6"/>
                </a:solidFill>
              </a:rPr>
              <a:t>Порівняння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468880" y="1344168"/>
            <a:ext cx="6126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  !=  &lt;  &gt;  &lt;=  &gt;=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828800"/>
            <a:ext cx="8229600" cy="438912"/>
          </a:xfrm>
          <a:prstGeom prst="rect">
            <a:avLst/>
          </a:prstGeom>
          <a:solidFill>
            <a:srgbClr val="252526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828800"/>
            <a:ext cx="45720" cy="438912"/>
          </a:xfrm>
          <a:prstGeom prst="rect">
            <a:avLst/>
          </a:prstGeom>
          <a:solidFill>
            <a:srgbClr val="DCDCAA"/>
          </a:solidFill>
          <a:ln/>
        </p:spPr>
      </p:sp>
      <p:sp>
        <p:nvSpPr>
          <p:cNvPr id="13" name="Text 11"/>
          <p:cNvSpPr/>
          <p:nvPr/>
        </p:nvSpPr>
        <p:spPr>
          <a:xfrm>
            <a:off x="594360" y="1847088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CDCAA"/>
                </a:solidFill>
              </a:rPr>
              <a:t>Логічні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468880" y="1847088"/>
            <a:ext cx="6126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&amp;&amp;  ||  !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331720"/>
            <a:ext cx="8229600" cy="438912"/>
          </a:xfrm>
          <a:prstGeom prst="rect">
            <a:avLst/>
          </a:prstGeom>
          <a:solidFill>
            <a:srgbClr val="252526"/>
          </a:solidFill>
          <a:ln/>
        </p:spPr>
      </p:sp>
      <p:sp>
        <p:nvSpPr>
          <p:cNvPr id="16" name="Shape 14"/>
          <p:cNvSpPr/>
          <p:nvPr/>
        </p:nvSpPr>
        <p:spPr>
          <a:xfrm>
            <a:off x="457200" y="2331720"/>
            <a:ext cx="45720" cy="438912"/>
          </a:xfrm>
          <a:prstGeom prst="rect">
            <a:avLst/>
          </a:prstGeom>
          <a:solidFill>
            <a:srgbClr val="C586C0"/>
          </a:solidFill>
          <a:ln/>
        </p:spPr>
      </p:sp>
      <p:sp>
        <p:nvSpPr>
          <p:cNvPr id="17" name="Text 15"/>
          <p:cNvSpPr/>
          <p:nvPr/>
        </p:nvSpPr>
        <p:spPr>
          <a:xfrm>
            <a:off x="594360" y="2350008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586C0"/>
                </a:solidFill>
              </a:rPr>
              <a:t>Присвоєння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468880" y="2350008"/>
            <a:ext cx="6126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 +=  -=  *=  /=  %=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2834640"/>
            <a:ext cx="8229600" cy="438912"/>
          </a:xfrm>
          <a:prstGeom prst="rect">
            <a:avLst/>
          </a:prstGeom>
          <a:solidFill>
            <a:srgbClr val="252526"/>
          </a:solidFill>
          <a:ln/>
        </p:spPr>
      </p:sp>
      <p:sp>
        <p:nvSpPr>
          <p:cNvPr id="20" name="Shape 18"/>
          <p:cNvSpPr/>
          <p:nvPr/>
        </p:nvSpPr>
        <p:spPr>
          <a:xfrm>
            <a:off x="457200" y="2834640"/>
            <a:ext cx="45720" cy="438912"/>
          </a:xfrm>
          <a:prstGeom prst="rect">
            <a:avLst/>
          </a:prstGeom>
          <a:solidFill>
            <a:srgbClr val="6A9955"/>
          </a:solidFill>
          <a:ln/>
        </p:spPr>
      </p:sp>
      <p:sp>
        <p:nvSpPr>
          <p:cNvPr id="21" name="Text 19"/>
          <p:cNvSpPr/>
          <p:nvPr/>
        </p:nvSpPr>
        <p:spPr>
          <a:xfrm>
            <a:off x="594360" y="2852928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A9955"/>
                </a:solidFill>
              </a:rPr>
              <a:t>Бітові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468880" y="2852928"/>
            <a:ext cx="6126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&amp;  |  ^  &lt;&lt;  &gt;&gt;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383280"/>
            <a:ext cx="8229600" cy="365760"/>
          </a:xfrm>
          <a:prstGeom prst="rect">
            <a:avLst/>
          </a:prstGeom>
          <a:solidFill>
            <a:srgbClr val="3E2723"/>
          </a:solidFill>
          <a:ln/>
        </p:spPr>
      </p:sp>
      <p:sp>
        <p:nvSpPr>
          <p:cNvPr id="24" name="Text 22"/>
          <p:cNvSpPr/>
          <p:nvPr/>
        </p:nvSpPr>
        <p:spPr>
          <a:xfrm>
            <a:off x="548640" y="3456432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4D4D4"/>
                </a:solidFill>
              </a:rPr>
              <a:t>⚠️ У Rust НЕМАЄ ++ та -- !  Використовуйте: x += 1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CE422B"/>
                </a:solidFill>
              </a:rPr>
              <a:t>Арифметичні операції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2834640"/>
          </a:xfrm>
          <a:prstGeom prst="rect">
            <a:avLst/>
          </a:prstGeom>
          <a:solidFill>
            <a:srgbClr val="0D3B2E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868680"/>
            <a:ext cx="804672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a = 10;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b = 3;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println!("{} + {} = {}", a, b, a + b);  // 13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println!("{} - {} = {}", a, b, a - b);  // 7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println!("{} * {} = {}", a, b, a * b);  // 30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println!("{} / {} = {}", a, b, a / b);  // 3 (ціле!)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println!("{} % {} = {}", a, b, a % b);  // 1 (остача)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mut x = 10;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+= 5;  // 15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-= 3;  // 12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*= 2;  // 24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CE422B"/>
                </a:solidFill>
              </a:rPr>
              <a:t>Операції порівняння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2834640"/>
          </a:xfrm>
          <a:prstGeom prst="rect">
            <a:avLst/>
          </a:prstGeom>
          <a:solidFill>
            <a:srgbClr val="0D3B2E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868680"/>
            <a:ext cx="804672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a = 5;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b = 10;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println!("{} == {} → {}", a, b, a == b);  // false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println!("{} != {} → {}", a, b, a != b);  // true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println!("{} &lt;  {} → {}", a, b, a &lt; b);   // true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println!("{} &gt;  {} → {}", a, b, a &gt; b);   // false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println!("{} &lt;= {} → {}", a, a, a &lt;= a);  // true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println!("{} &gt;= {} → {}", a, b, a &gt;= b);  // false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a &lt; b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println!("a менше за b");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CE422B"/>
                </a:solidFill>
              </a:rPr>
              <a:t>Логічні операції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2651760" cy="914400"/>
          </a:xfrm>
          <a:prstGeom prst="rect">
            <a:avLst/>
          </a:prstGeom>
          <a:solidFill>
            <a:srgbClr val="252526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914400"/>
            <a:ext cx="2468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</a:rPr>
              <a:t>&amp;&amp; — І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</a:rPr>
              <a:t>true &amp;&amp; true → true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</a:rPr>
              <a:t>інше → false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246120" y="822960"/>
            <a:ext cx="2651760" cy="914400"/>
          </a:xfrm>
          <a:prstGeom prst="rect">
            <a:avLst/>
          </a:prstGeom>
          <a:solidFill>
            <a:srgbClr val="252526"/>
          </a:solidFill>
          <a:ln/>
        </p:spPr>
      </p:sp>
      <p:sp>
        <p:nvSpPr>
          <p:cNvPr id="6" name="Text 4"/>
          <p:cNvSpPr/>
          <p:nvPr/>
        </p:nvSpPr>
        <p:spPr>
          <a:xfrm>
            <a:off x="3337560" y="914400"/>
            <a:ext cx="2468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</a:rPr>
              <a:t>|| — АБО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</a:rPr>
              <a:t>false || false → false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</a:rPr>
              <a:t>інше → true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035040" y="822960"/>
            <a:ext cx="2651760" cy="914400"/>
          </a:xfrm>
          <a:prstGeom prst="rect">
            <a:avLst/>
          </a:prstGeom>
          <a:solidFill>
            <a:srgbClr val="252526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0" y="914400"/>
            <a:ext cx="2468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</a:rPr>
              <a:t>! — НЕ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</a:rPr>
              <a:t>!true → false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</a:rPr>
              <a:t>!false → true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920240"/>
            <a:ext cx="8229600" cy="1371600"/>
          </a:xfrm>
          <a:prstGeom prst="rect">
            <a:avLst/>
          </a:prstGeom>
          <a:solidFill>
            <a:srgbClr val="0D3B2E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9659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age = 25;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has_license = true;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can_drive = age &gt;= 18 &amp;&amp; has_license;  // true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is_hungry = true;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needs_break = false || is_hungry;      // true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CE422B"/>
                </a:solidFill>
              </a:rPr>
              <a:t>Оператор if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3931920" cy="1463040"/>
          </a:xfrm>
          <a:prstGeom prst="rect">
            <a:avLst/>
          </a:prstGeom>
          <a:solidFill>
            <a:srgbClr val="264F78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914400"/>
            <a:ext cx="37490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Сі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(x &gt; 5)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printf("Більше");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else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printf("Менше");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754880" y="822960"/>
            <a:ext cx="3931920" cy="1463040"/>
          </a:xfrm>
          <a:prstGeom prst="rect">
            <a:avLst/>
          </a:prstGeom>
          <a:solidFill>
            <a:srgbClr val="0D3B2E"/>
          </a:solidFill>
          <a:ln/>
        </p:spPr>
      </p:sp>
      <p:sp>
        <p:nvSpPr>
          <p:cNvPr id="6" name="Text 4"/>
          <p:cNvSpPr/>
          <p:nvPr/>
        </p:nvSpPr>
        <p:spPr>
          <a:xfrm>
            <a:off x="4846320" y="914400"/>
            <a:ext cx="37490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Rust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x &gt; 5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println!("Більше");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else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println!("Менше");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2423160"/>
            <a:ext cx="8229600" cy="1280160"/>
          </a:xfrm>
          <a:prstGeom prst="rect">
            <a:avLst/>
          </a:prstGeom>
          <a:solidFill>
            <a:srgbClr val="252526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468880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CDCAA"/>
                </a:solidFill>
              </a:rPr>
              <a:t>Відмінності від Сі: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274320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4D4D4"/>
                </a:solidFill>
              </a:rPr>
              <a:t>• БЕЗ круглих дужок! if x &gt; 5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D4D4D4"/>
                </a:solidFill>
              </a:rPr>
              <a:t>• { } ОБОВ'ЯЗКОВІ навіть для одного рядка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D4D4D4"/>
                </a:solidFill>
              </a:rPr>
              <a:t>• Умова ПОВИННА бути bool! if x — помилка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CE422B"/>
                </a:solidFill>
              </a:rPr>
              <a:t>if як вираз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4D4D4"/>
                </a:solidFill>
              </a:rPr>
              <a:t>if — це вираз, який повертає значення! Замінює тернарний ?: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3931920" cy="548640"/>
          </a:xfrm>
          <a:prstGeom prst="rect">
            <a:avLst/>
          </a:prstGeom>
          <a:solidFill>
            <a:srgbClr val="264F78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28016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Сі:   int s = x &gt; 0 ? 1 : 0;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754880" y="1188720"/>
            <a:ext cx="3931920" cy="548640"/>
          </a:xfrm>
          <a:prstGeom prst="rect">
            <a:avLst/>
          </a:prstGeom>
          <a:solidFill>
            <a:srgbClr val="0D3B2E"/>
          </a:solidFill>
          <a:ln/>
        </p:spPr>
      </p:sp>
      <p:sp>
        <p:nvSpPr>
          <p:cNvPr id="7" name="Text 5"/>
          <p:cNvSpPr/>
          <p:nvPr/>
        </p:nvSpPr>
        <p:spPr>
          <a:xfrm>
            <a:off x="4846320" y="128016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Rust: let s = if x &gt; 0 { 1 } else { 0 };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57200" y="1920240"/>
            <a:ext cx="8229600" cy="1828800"/>
          </a:xfrm>
          <a:prstGeom prst="rect">
            <a:avLst/>
          </a:prstGeom>
          <a:solidFill>
            <a:srgbClr val="0D3B2E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1965960"/>
            <a:ext cx="8046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score = 75;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grade = if score &gt;= 90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"Відмінно"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else if score &gt;= 70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"Добре"       // ← score = 75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else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"Задовільно"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println!("Оцінка: {}", grade);  // Добре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CE422B"/>
                </a:solidFill>
              </a:rPr>
              <a:t>Цикл loop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4D4D4"/>
                </a:solidFill>
              </a:rPr>
              <a:t>loop — нескінченний цикл. Вихід через break.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0D3B2E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234440"/>
            <a:ext cx="37490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Простий: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mut c = 0;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 += 1;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c &gt;= 5 { break; }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1 2 3 4 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0D3B2E"/>
          </a:solidFill>
          <a:ln/>
        </p:spPr>
      </p:sp>
      <p:sp>
        <p:nvSpPr>
          <p:cNvPr id="7" name="Text 5"/>
          <p:cNvSpPr/>
          <p:nvPr/>
        </p:nvSpPr>
        <p:spPr>
          <a:xfrm>
            <a:off x="4846320" y="1234440"/>
            <a:ext cx="37490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Повертає значення: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mut c = 0;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result = loop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 += 1;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c == 10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break c * 2;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 // result = 20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301752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EC9B0"/>
                </a:solidFill>
              </a:rPr>
              <a:t>break може повертати значення!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CE422B"/>
                </a:solidFill>
              </a:rPr>
              <a:t>Цикл while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2834640"/>
          </a:xfrm>
          <a:prstGeom prst="rect">
            <a:avLst/>
          </a:prstGeom>
          <a:solidFill>
            <a:srgbClr val="0D3B2E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868680"/>
            <a:ext cx="804672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Зворотний відлік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mut n = 5;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n &gt; 0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println!("{}...", n);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 -= 1;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println!("Старт!");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5...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4...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3...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2...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1...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Старт!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CE422B"/>
                </a:solidFill>
              </a:rPr>
              <a:t>Цикл for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2834640"/>
          </a:xfrm>
          <a:prstGeom prst="rect">
            <a:avLst/>
          </a:prstGeom>
          <a:solidFill>
            <a:srgbClr val="0D3B2E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868680"/>
            <a:ext cx="804672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0..5 — НЕ включає 5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i in 0..5 { print!("{} ", i); }  // 0 1 2 3 4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1..=5 — ВКЛЮЧАЄ 5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i in 1..=5 { print!("{} ", i); }  // 1 2 3 4 5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Зворотній порядок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i in (1..=5).rev() { print!("{} ", i); }  // 5 4 3 2 1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По масиву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fruits = ["яблуко", "банан"];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fruit in fruits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println!("{}", fruit);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CE422B"/>
                </a:solidFill>
              </a:rPr>
              <a:t>break та continue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3931920" cy="1828800"/>
          </a:xfrm>
          <a:prstGeom prst="rect">
            <a:avLst/>
          </a:prstGeom>
          <a:solidFill>
            <a:srgbClr val="0D3B2E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868680"/>
            <a:ext cx="37490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break — вихід: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i in 0..10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i == 5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println!("Стоп!");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break;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println!("{}", i);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0 1 2 3 4 Стоп!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754880" y="822960"/>
            <a:ext cx="3931920" cy="1828800"/>
          </a:xfrm>
          <a:prstGeom prst="rect">
            <a:avLst/>
          </a:prstGeom>
          <a:solidFill>
            <a:srgbClr val="0D3B2E"/>
          </a:solidFill>
          <a:ln/>
        </p:spPr>
      </p:sp>
      <p:sp>
        <p:nvSpPr>
          <p:cNvPr id="6" name="Text 4"/>
          <p:cNvSpPr/>
          <p:nvPr/>
        </p:nvSpPr>
        <p:spPr>
          <a:xfrm>
            <a:off x="4846320" y="868680"/>
            <a:ext cx="37490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continue — пропустити: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i in 0..5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i == 2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continue;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println!("{}", i);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0 1 3 4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(2 пропущено)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CE422B"/>
                </a:solidFill>
              </a:rPr>
              <a:t>Функції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4D4D4"/>
                </a:solidFill>
              </a:rPr>
              <a:t>fn оголошує функцію. Типи параметрів ОБОВ'ЯЗКОВІ.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8229600" cy="2468880"/>
          </a:xfrm>
          <a:prstGeom prst="rect">
            <a:avLst/>
          </a:prstGeom>
          <a:solidFill>
            <a:srgbClr val="0D3B2E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234440"/>
            <a:ext cx="804672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fn greet()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println!("Привіт!");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fn greet_person(name: &amp;str)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println!("Привіт, {}!", name);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fn add(a: i32, b: i32) -&gt; i32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 + b   // БЕЗ ; = повернення!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fn main()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greet();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greet_person("Rust");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let sum = add(5, 3);  // 8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CE422B"/>
                </a:solidFill>
              </a:rPr>
              <a:t>Приклад: площа круга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2834640"/>
          </a:xfrm>
          <a:prstGeom prst="rect">
            <a:avLst/>
          </a:prstGeom>
          <a:solidFill>
            <a:srgbClr val="0D3B2E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868680"/>
            <a:ext cx="804672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fn calculate_area(r: f64) -&gt; f64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3.14159265 * r * r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fn main()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let radius = 5.0;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let area = calculate_area(radius);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println!("Радіус: {}", radius);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println!("Площа: {:.2}", area);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Радіус: 5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Площа: 78.54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CE422B"/>
                </a:solidFill>
              </a:rPr>
              <a:t>Приклад: конвертер температури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2834640"/>
          </a:xfrm>
          <a:prstGeom prst="rect">
            <a:avLst/>
          </a:prstGeom>
          <a:solidFill>
            <a:srgbClr val="0D3B2E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868680"/>
            <a:ext cx="804672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fn celsius_to_fahrenheit(c: f64) -&gt; f64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 * 9.0 / 5.0 + 32.0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fn main()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let temps = [0.0, 20.0, 36.6, 100.0];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c in temps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let f = celsius_to_fahrenheit(c);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println!("{:.1}°C = {:.1}°F", c, f);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0.0°C = 32.0°F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20.0°C = 68.0°F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CE422B"/>
                </a:solidFill>
              </a:rPr>
              <a:t>Завдання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D4D4"/>
                </a:solidFill>
              </a:rPr>
              <a:t>1. Вивести println! візерунок:</a:t>
            </a:r>
            <a:endParaRPr lang="en-US" sz="1200" dirty="0"/>
          </a:p>
          <a:p>
            <a:pPr marL="0" indent="0">
              <a:lnSpc>
                <a:spcPts val="1600"/>
              </a:lnSpc>
              <a:buNone/>
            </a:pPr>
            <a:endParaRPr lang="en-US" sz="12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D4D4"/>
                </a:solidFill>
              </a:rPr>
              <a:t>   *  *  ****</a:t>
            </a:r>
            <a:endParaRPr lang="en-US" sz="12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D4D4"/>
                </a:solidFill>
              </a:rPr>
              <a:t>   *  *  *</a:t>
            </a:r>
            <a:endParaRPr lang="en-US" sz="12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D4D4"/>
                </a:solidFill>
              </a:rPr>
              <a:t>   ****  ***</a:t>
            </a:r>
            <a:endParaRPr lang="en-US" sz="12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D4D4"/>
                </a:solidFill>
              </a:rPr>
              <a:t>   *  *  *</a:t>
            </a:r>
            <a:endParaRPr lang="en-US" sz="12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D4D4"/>
                </a:solidFill>
              </a:rPr>
              <a:t>   *  *  ****</a:t>
            </a:r>
            <a:endParaRPr lang="en-US" sz="1200" dirty="0"/>
          </a:p>
          <a:p>
            <a:pPr marL="0" indent="0">
              <a:lnSpc>
                <a:spcPts val="1600"/>
              </a:lnSpc>
              <a:buNone/>
            </a:pPr>
            <a:endParaRPr lang="en-US" sz="12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D4D4"/>
                </a:solidFill>
              </a:rPr>
              <a:t>   Спробуйте одним println!</a:t>
            </a:r>
            <a:endParaRPr lang="en-US" sz="1200" dirty="0"/>
          </a:p>
          <a:p>
            <a:pPr marL="0" indent="0">
              <a:lnSpc>
                <a:spcPts val="1600"/>
              </a:lnSpc>
              <a:buNone/>
            </a:pPr>
            <a:endParaRPr lang="en-US" sz="12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D4D4"/>
                </a:solidFill>
              </a:rPr>
              <a:t>2. Перевести Фаренгейта в Цельсія: C = (F - 32) × 5/9</a:t>
            </a:r>
            <a:endParaRPr lang="en-US" sz="1200" dirty="0"/>
          </a:p>
          <a:p>
            <a:pPr marL="0" indent="0">
              <a:lnSpc>
                <a:spcPts val="1600"/>
              </a:lnSpc>
              <a:buNone/>
            </a:pPr>
            <a:endParaRPr lang="en-US" sz="12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D4D4"/>
                </a:solidFill>
              </a:rPr>
              <a:t>3. Написати калькулятор: add, subtract, multiply, divide</a:t>
            </a:r>
            <a:endParaRPr lang="en-US" sz="12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CE422B"/>
                </a:solidFill>
              </a:rPr>
              <a:t>Підсумок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3931920" cy="548640"/>
          </a:xfrm>
          <a:prstGeom prst="rect">
            <a:avLst/>
          </a:prstGeom>
          <a:solidFill>
            <a:srgbClr val="252526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822960"/>
            <a:ext cx="45720" cy="548640"/>
          </a:xfrm>
          <a:prstGeom prst="rect">
            <a:avLst/>
          </a:prstGeom>
          <a:solidFill>
            <a:srgbClr val="4EC9B0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850392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EC9B0"/>
                </a:solidFill>
              </a:rPr>
              <a:t>Інструменти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94360" y="10972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4D4D4"/>
                </a:solidFill>
              </a:rPr>
              <a:t>rustup, cargo new/build/run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3931920" cy="548640"/>
          </a:xfrm>
          <a:prstGeom prst="rect">
            <a:avLst/>
          </a:prstGeom>
          <a:solidFill>
            <a:srgbClr val="252526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1463040"/>
            <a:ext cx="45720" cy="548640"/>
          </a:xfrm>
          <a:prstGeom prst="rect">
            <a:avLst/>
          </a:prstGeom>
          <a:solidFill>
            <a:srgbClr val="569CD6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1490472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69CD6"/>
                </a:solidFill>
              </a:rPr>
              <a:t>Програма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94360" y="17373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4D4D4"/>
                </a:solidFill>
              </a:rPr>
              <a:t>fn main() { }, println!()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2103120"/>
            <a:ext cx="3931920" cy="548640"/>
          </a:xfrm>
          <a:prstGeom prst="rect">
            <a:avLst/>
          </a:prstGeom>
          <a:solidFill>
            <a:srgbClr val="252526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2103120"/>
            <a:ext cx="45720" cy="548640"/>
          </a:xfrm>
          <a:prstGeom prst="rect">
            <a:avLst/>
          </a:prstGeom>
          <a:solidFill>
            <a:srgbClr val="DCDCAA"/>
          </a:solidFill>
          <a:ln/>
        </p:spPr>
      </p:sp>
      <p:sp>
        <p:nvSpPr>
          <p:cNvPr id="13" name="Text 11"/>
          <p:cNvSpPr/>
          <p:nvPr/>
        </p:nvSpPr>
        <p:spPr>
          <a:xfrm>
            <a:off x="594360" y="2130552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CDCAA"/>
                </a:solidFill>
              </a:rPr>
              <a:t>Змінні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94360" y="23774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4D4D4"/>
                </a:solidFill>
              </a:rPr>
              <a:t>let / let mut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0" y="822960"/>
            <a:ext cx="3931920" cy="548640"/>
          </a:xfrm>
          <a:prstGeom prst="rect">
            <a:avLst/>
          </a:prstGeom>
          <a:solidFill>
            <a:srgbClr val="252526"/>
          </a:solidFill>
          <a:ln/>
        </p:spPr>
      </p:sp>
      <p:sp>
        <p:nvSpPr>
          <p:cNvPr id="16" name="Shape 14"/>
          <p:cNvSpPr/>
          <p:nvPr/>
        </p:nvSpPr>
        <p:spPr>
          <a:xfrm>
            <a:off x="4572000" y="822960"/>
            <a:ext cx="45720" cy="548640"/>
          </a:xfrm>
          <a:prstGeom prst="rect">
            <a:avLst/>
          </a:prstGeom>
          <a:solidFill>
            <a:srgbClr val="C586C0"/>
          </a:solidFill>
          <a:ln/>
        </p:spPr>
      </p:sp>
      <p:sp>
        <p:nvSpPr>
          <p:cNvPr id="17" name="Text 15"/>
          <p:cNvSpPr/>
          <p:nvPr/>
        </p:nvSpPr>
        <p:spPr>
          <a:xfrm>
            <a:off x="4709160" y="850392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586C0"/>
                </a:solidFill>
              </a:rPr>
              <a:t>Типи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709160" y="10972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4D4D4"/>
                </a:solidFill>
              </a:rPr>
              <a:t>i32, f64, bool, char, &amp;str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0" y="1463040"/>
            <a:ext cx="3931920" cy="548640"/>
          </a:xfrm>
          <a:prstGeom prst="rect">
            <a:avLst/>
          </a:prstGeom>
          <a:solidFill>
            <a:srgbClr val="252526"/>
          </a:solidFill>
          <a:ln/>
        </p:spPr>
      </p:sp>
      <p:sp>
        <p:nvSpPr>
          <p:cNvPr id="20" name="Shape 18"/>
          <p:cNvSpPr/>
          <p:nvPr/>
        </p:nvSpPr>
        <p:spPr>
          <a:xfrm>
            <a:off x="4572000" y="1463040"/>
            <a:ext cx="45720" cy="548640"/>
          </a:xfrm>
          <a:prstGeom prst="rect">
            <a:avLst/>
          </a:prstGeom>
          <a:solidFill>
            <a:srgbClr val="6A9955"/>
          </a:solidFill>
          <a:ln/>
        </p:spPr>
      </p:sp>
      <p:sp>
        <p:nvSpPr>
          <p:cNvPr id="21" name="Text 19"/>
          <p:cNvSpPr/>
          <p:nvPr/>
        </p:nvSpPr>
        <p:spPr>
          <a:xfrm>
            <a:off x="4709160" y="1490472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A9955"/>
                </a:solidFill>
              </a:rPr>
              <a:t>Операції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709160" y="17373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4D4D4"/>
                </a:solidFill>
              </a:rPr>
              <a:t>+ - * / %, == !=, &amp;&amp; ||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0" y="2103120"/>
            <a:ext cx="3931920" cy="548640"/>
          </a:xfrm>
          <a:prstGeom prst="rect">
            <a:avLst/>
          </a:prstGeom>
          <a:solidFill>
            <a:srgbClr val="252526"/>
          </a:solidFill>
          <a:ln/>
        </p:spPr>
      </p:sp>
      <p:sp>
        <p:nvSpPr>
          <p:cNvPr id="24" name="Shape 22"/>
          <p:cNvSpPr/>
          <p:nvPr/>
        </p:nvSpPr>
        <p:spPr>
          <a:xfrm>
            <a:off x="4572000" y="2103120"/>
            <a:ext cx="45720" cy="548640"/>
          </a:xfrm>
          <a:prstGeom prst="rect">
            <a:avLst/>
          </a:prstGeom>
          <a:solidFill>
            <a:srgbClr val="CE422B"/>
          </a:solidFill>
          <a:ln/>
        </p:spPr>
      </p:sp>
      <p:sp>
        <p:nvSpPr>
          <p:cNvPr id="25" name="Text 23"/>
          <p:cNvSpPr/>
          <p:nvPr/>
        </p:nvSpPr>
        <p:spPr>
          <a:xfrm>
            <a:off x="4709160" y="2130552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E422B"/>
                </a:solidFill>
              </a:rPr>
              <a:t>Керування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709160" y="23774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4D4D4"/>
                </a:solidFill>
              </a:rPr>
              <a:t>if/else, loop, while, for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57200" y="2880360"/>
            <a:ext cx="8229600" cy="822960"/>
          </a:xfrm>
          <a:prstGeom prst="rect">
            <a:avLst/>
          </a:prstGeom>
          <a:solidFill>
            <a:srgbClr val="3E2723"/>
          </a:solidFill>
          <a:ln/>
        </p:spPr>
      </p:sp>
      <p:sp>
        <p:nvSpPr>
          <p:cNvPr id="28" name="Text 26"/>
          <p:cNvSpPr/>
          <p:nvPr/>
        </p:nvSpPr>
        <p:spPr>
          <a:xfrm>
            <a:off x="548640" y="29260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E422B"/>
                </a:solidFill>
              </a:rPr>
              <a:t>Наступна лекція: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48640" y="324612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4D4D4"/>
                </a:solidFill>
              </a:rPr>
              <a:t>Ownership — система володіння пам'яттю, серце безпеки Rust 🦀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3233</Words>
  <Application>Microsoft Office PowerPoint</Application>
  <PresentationFormat>Экран (16:9)</PresentationFormat>
  <Paragraphs>569</Paragraphs>
  <Slides>41</Slides>
  <Notes>41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41</vt:i4>
      </vt:variant>
    </vt:vector>
  </HeadingPairs>
  <TitlesOfParts>
    <vt:vector size="45" baseType="lpstr">
      <vt:lpstr>Arial</vt:lpstr>
      <vt:lpstr>Calibri</vt:lpstr>
      <vt:lpstr>Courier New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Основи програмування на Rust</dc:title>
  <dc:subject>PptxGenJS Presentation</dc:subject>
  <dc:creator>О. С. Бичков</dc:creator>
  <cp:lastModifiedBy>Алексей</cp:lastModifiedBy>
  <cp:revision>3</cp:revision>
  <dcterms:created xsi:type="dcterms:W3CDTF">2026-01-02T13:19:10Z</dcterms:created>
  <dcterms:modified xsi:type="dcterms:W3CDTF">2026-01-27T14:15:40Z</dcterms:modified>
</cp:coreProperties>
</file>