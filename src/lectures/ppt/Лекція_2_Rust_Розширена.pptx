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9311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Структури даних у Rust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</a:rPr>
              <a:t>Масиви • Кортежі • Option • match • Слайси • Структури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</a:rPr>
              <a:t>Лекція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Бичков Олексій Сергійович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Кафедра теоретичної кібернетики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Зміст лекції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1. Масиви [T; N] — фіксований розмір, один тип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2. Option&lt;T&gt; — обробка відсутніх значень (Some/None)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3. match — pattern matching (зіставлення з шаблоном)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4. Кортежі (T1, T2) — групування різних типів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5. Посилання &amp;T — borrowing (запозичення)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6. Слайси &amp;[T] — "вікно" в дані, fat pointer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7. Структури struct — власні типи даних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8. Методи impl — додавання поведінки до структур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9. Атрибути #[derive] — автоматична реалізація traits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10. Практика — моделювання агента БПЛА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Цілі лекції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</a:rPr>
              <a:t>Після цієї лекції ви зможете: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• Створювати масиви фіксованого розміру [T; N]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• Розуміти Option&lt;T&gt; та безпечно обробляти відсутні значення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• Використовувати match для pattern matching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• Групувати дані в кортежі та деструктуризувати їх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• Розуміти посилання &amp; та слайси &amp;[T]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• Створювати власні типи через struct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• Додавати методи через impl блоки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• Моделювати реальні об'єкти (агент БПЛА)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Навіщо структури даних?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У Лекції 1 ми працювали з окремими змінними: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10.0;  let y = 20.0;  let z = 5.0;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battery = 85;  let is_active = true;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DCAA"/>
                </a:solidFill>
              </a:rPr>
              <a:t>Проблема: 5 змінних для одного дрона. А якщо дронів 100?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</a:rPr>
              <a:t>Рішення — структури даних: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• Масиви [T; N] — багато значень одного типу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• Кортежі (T1, T2) — кілька значень різних типів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• Структури struct — іменовані поля, власні типи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08080"/>
                </a:solidFill>
              </a:rPr>
              <a:t>ЧАСТИНА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Масиви [T; N]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Фіксована кількість елементів одного типу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Що таке масив?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Масив — послідовність елементів одного типу, що зберігаються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поруч у пам'яті (контигуентно).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Ключові характеристики: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Фіксований розмір — відомий на етапі компіляції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Однотипні елементи — всі мають тип T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Зберігання на стеку — швидкий доступ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Розмір є частиною типу — [i32; 5] ≠ [i32; 6]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Синтаксис: [T; N]  де T — тип, N — кількість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20503" y="3038622"/>
            <a:ext cx="8229600" cy="548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717453" y="3045656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arr: [i32; 5] = [1, 2, 3, 4, 5];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^^^^^^^^ тип: масив з 5 елементів i32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Де живуть дані: Stack vs Heap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931920" cy="17373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Stack (Стек)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3749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Швидке виділення пам'яті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Розмір відомий заздалегідь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Автоматичне звільнення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Обмежений розмір (~1-8 МБ)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Приклади: i32, f64, bool,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масиви [T; N], кортежі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54880" y="822960"/>
            <a:ext cx="3931920" cy="17373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8686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DCAA"/>
                </a:solidFill>
              </a:rPr>
              <a:t>Heap (Купа)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143000"/>
            <a:ext cx="3749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Повільніше виділення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Розмір може змінюватись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Потребує керування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Великий розмір (ГБ)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Приклади: String, Vec&lt;T&gt;,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Box&lt;T&gt;, динамічні дані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70632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Масиви [T; N] живуть на стеку — швидко, але розмір фіксований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Оголошення масивів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19202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Явне перелічення елементів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days = ["Пн", "Вт", "Ср", "Чт", "Пт", "Сб", "Нд"];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 явним типом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numbers: [i32; 5] = [1, 2, 3, 4, 5];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Заповнення однаковим значенням: [значення; кількість]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zeros = [0; 10];      // [0, 0, 0, 0, 0, 0, 0, 0, 0, 0]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matrix = [[0; 3]; 3]; // матриця 3×3 нулів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Тип виводиться автоматично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floats = [1.0, 2.0, 3.0];  // [f64; 3]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07792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[значення; кількість] — синтаксис заповнення однаковими значеннями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Доступ до елементів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86862" y="1818251"/>
            <a:ext cx="8229600" cy="219456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386862" y="181825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fruits = ["яблуко", "банан", "апельсин", "груша"];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індекси:      0         1          2          3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println!("{}", fruits[0]);  // яблуко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println!("{}", fruits[2]);  // апельсин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.len() — кількість елементів (тип usize)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println!("Кількість: {}", fruits.len());  // 4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Останній елемент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last = fruits[fruits.len() - 1];  // груша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Зміна (потрібен mut!)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scores = [10, 20, 30];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scores[1] = 25;  // [10, 25, 30]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Вихід за межі масиву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931920" cy="1463040"/>
          </a:xfrm>
          <a:prstGeom prst="rect">
            <a:avLst/>
          </a:prstGeom>
          <a:solidFill>
            <a:srgbClr val="264F7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Сі — невизначена поведінка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arr[3] = {1, 2, 3};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 = arr[10]; // ???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Читає "сміття"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Можливий segfault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Вразливість безпеки!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754880" y="822960"/>
            <a:ext cx="3931920" cy="14630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8686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E422B"/>
                </a:solidFill>
              </a:rPr>
              <a:t>Rust — контрольована паніка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46320" y="109728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arr = [1, 2, 3];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arr[10]; // ПАНІКА!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'index out of bounds: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len is 3 but index is 10'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12801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46888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DCAA"/>
                </a:solidFill>
              </a:rPr>
              <a:t>Чому паніка краща?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Програма зупиняється з чітким повідомленням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Не працює з пошкодженими даними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Неможливо експлуатувати як вразливість (buffer overflow)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Легше знайти та виправити баг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08080"/>
                </a:solidFill>
              </a:rPr>
              <a:t>ЧАСТИНА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Option&lt;T&gt;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Безпечна обробка відсутніх значень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Проблема NULL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У багатьох мовах (C, Java, Python) є NULL/None/null — "відсутність значення".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Проблема: компілятор НЕ змушує перевіряти на NULL!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1188720"/>
          </a:xfrm>
          <a:prstGeom prst="rect">
            <a:avLst/>
          </a:prstGeom>
          <a:solidFill>
            <a:srgbClr val="264F7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Сі — небезпечно: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int* find(int arr[], int size, int target)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size; i++)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(arr[i] == target) return &amp;arr[i];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NULL;  // не знайдено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int* result = find(arr, 5, 42);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printf("%d", *result);  // 💥 Якщо NULL — segfault!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DCAA"/>
                </a:solidFill>
              </a:rPr>
              <a:t>Тоні Хоар (винахідник NULL): "Моя помилка на мільярд доларів"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</a:rPr>
              <a:t>Rust вирішує це через Option&lt;T&gt; — компілятор ЗМУШУЄ обробляти!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Що таке Option&lt;T&gt;?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Option&lt;T&gt; — enum з двома варіантами: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Визначення в стандартній бібліотеці: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Option&lt;T&gt;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Some(T),  // Є значення типу 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None,     // Значення відсутнє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Some(значення) — значення присутнє, "обгорнуте" в Some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None — значення відсутнє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&lt;T&gt; — generic (узагальнений тип):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   Option&lt;i32&gt; — може містити i32 або бути None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   Option&lt;String&gt; — може містити String або бути None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502152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Ключове: Option ЗМУШУЄ явно обробити випадок відсутності!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Створення Option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65176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Some — є значення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some_number: Option&lt;i32&gt; = Some(42);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some_string: Option&lt;&amp;str&gt; = Some("hello");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None — немає значення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no_number: Option&lt;i32&gt; = None;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Тип виводиться автоматично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Some(5);        // Option&lt;i32&gt;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y = Some("text");   // Option&lt;&amp;str&gt;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⚠️ Для None тип ОБОВ'ЯЗКОВИЙ!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z: Option&lt;i32&gt; = None;  // Який None? Для i32!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ВАЖЛИВО: Option&lt;i32&gt; ≠ i32 — це РІЗНІ типи!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a: i32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b: Option&lt;i32&gt; = Some(5);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let c: i32 = b;  // ❌ ПОМИЛКА!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Що таке match?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endParaRPr lang="en-US" sz="1100" dirty="0">
              <a:solidFill>
                <a:srgbClr val="D4D4D4"/>
              </a:solidFill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match — конструкція для pattern matching (зіставлення з шаблоном).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Порівнює значення з набором шаблонів, виконує код першого, що підійшов.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Особливості: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Перевіряє ВСІ можливі варіанти (exhaustive)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Компілятор гарантує — нічого не пропущено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Кожна гілка може повертати значення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2504045"/>
            <a:ext cx="8229600" cy="13716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00533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number = 3;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number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 =&gt; println!("Один"),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=&gt; println!("Два"),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=&gt; println!("Три"),   // ← виконається ця гілка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println!("Інше"),  // _ означає "все інше"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Синтаксис match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770142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46981"/>
            <a:ext cx="8046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5;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Проста форма — один вираз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x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 =&gt; println!("один"),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=&gt; println!("два"),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println!("інше"),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 блоками коду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x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 =&gt;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println!("Це одиниця!");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println!("Спеціальне число");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| 3 | 4 =&gt; println!("2, 3 або 4"),  // | означає "або"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5..=10 =&gt; println!("Від 5 до 10"),    // діапазон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println!("Щось інше"),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match як вираз — повертає значення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word = match x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 =&gt; "один",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=&gt; "два",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"багато",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match для Option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match ідеально підходить для Option — обробляємо обидва випадки: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71268" y="1086728"/>
            <a:ext cx="8229600" cy="2627142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maybe_number: Option&lt;i32&gt; = Some(42);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maybe_number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Some(n) =&gt;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n — "розгорнуте" значення (i32), доступне тут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println!("Знайдено: {}", n);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None =&gt;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println!("Значення відсутнє");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match як вираз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doubled = match maybe_number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Some(n) =&gt; n * 2,  // є значення — подвоюємо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None =&gt; 0,         // немає — повертаємо 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println!("Результат: {}", doubled);  // 84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Метод .get() — безпечний доступ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.get(index) повертає Option — без паніки при виході за межі: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85203"/>
            <a:ext cx="8229600" cy="2690445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20837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arr = [10, 20, 30];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Звичайний доступ — паніка!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let x = arr[10];  // 💥 ПАНІКА!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.get() — повертає Option, без паніки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first = arr.get(0);   // Some(&amp;10)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tenth = arr.get(10);  // None — безпечно!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Обробка через match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arr.get(1)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Some(value) =&gt; println!("Знайдено: {}", value),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None =&gt; println!("Індекс поза межами"),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Або через if let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let Some(v) = arr.get(2)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println!("Елемент: {}", v);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Корисні методи Option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59"/>
            <a:ext cx="8229600" cy="3151163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79696"/>
            <a:ext cx="804672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x: Option&lt;i32&gt; = Some(42);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y: Option&lt;i32&gt; = None;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Перевірка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x.is_some()            // true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x.is_none()            // false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Отримання значення (ОБЕРЕЖНО!)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x.unwrap()             // 42 — але паніка якщо None!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y.unwrap()             // 💥 ПАНІКА!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Безпечні альтернативи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x.unwrap_or(0)         // 42 (є значення)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y.unwrap_or(0)         // 0  (немає — замовчування)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x.unwrap_or_default()  // 42 (є значення)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y.unwrap_or_default()  // 0  (default для i32 = 0)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 — як unwrap, але з повідомленням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x.expect("Потрібне число!")  // 42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y.expect("Потрібне число!")  // 💥 паніка з повідомленням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if let — скорочений match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Коли цікавить тільки один варіант: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31920" cy="13716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7043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match (повний):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749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opt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Some(n) =&gt;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println!("{}", n);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None =&gt; {}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1143000"/>
            <a:ext cx="3931920" cy="13716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17043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if let (коротко):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749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let Some(n) = opt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n);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Можна додати else: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if let Some(n) = opt {..}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else {..}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if let Some(n) = opt означає: "якщо opt є Some, витягни n"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0632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Приклад з масивом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arr = [1, 2, 3];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let Some(first) = arr.get(0)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println!("Перший елемент: {}", first);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08080"/>
                </a:solidFill>
              </a:rPr>
              <a:t>ЧАСТИНА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Кортежі (T1, T2, ...)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Групування значень різних типів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Що таке кортеж?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Кортеж (tuple) — групування фіксованої кількості значень РІЗНИХ типів.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Порівняння: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Масив [T; N]: всі N елементів одного типу T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Кортеж (T1, T2, T3): елементи можуть бути різних типів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878038"/>
            <a:ext cx="8229600" cy="164592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8046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Масив — однотипні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arr: [i32; 3] = [1, 2, 3];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Кортеж — різнотипні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tuple: (i32, f64, bool) = (42, 3.14, true);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^^^  ^^^  ^^^^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Приклад: інформація про особу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person: (&amp;str, i32, bool) = ("Олексій", 30, true);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ім'я  вік  активний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Створення кортежів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52620"/>
            <a:ext cx="8229600" cy="22649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 явним типом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point: (f64, f64) = (10.5, 20.3);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Тип виводиться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rgb = (255, 128, 0);           // (i32, i32, i32)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mixed = (1, "hello", true);    // (i32, &amp;str, bool)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Вкладені кортежі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nested = ((1, 2), (3, 4));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⚠️ Одноелементний — ПОТРІБНА КОМА!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single = (42,);   // (i32) — кортеж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number = (42);    // i32   — просто число!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Unit — порожній кортеж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unit: () = ();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3087860"/>
            <a:ext cx="8229600" cy="4572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1089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D4D4"/>
                </a:solidFill>
              </a:rPr>
              <a:t>⚠️ (42) — число,  (42,) — кортеж з одного елемента!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Доступ до елементів кортежу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Два способи: через крапку .0, .1 або деструктуризація: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22860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person = ("Олексій", 30, true);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Спосіб 1: через КРАПКУ (не дужки!)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name = person.0;      // "Олексій"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age = person.1;       // 30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active = person.2;    // true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Спосіб 2: деструктуризація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(name, age, active) = person;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має {} років", name, age);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Часткова деструктуризація — _ ігнорує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(name, _, _) = person;  // тільки ім'я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(_, age, _) = person;   // тільки вік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(name, ..) = person;    // .. ігнорує решту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Деструктуризація детально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Деструктуризація — розпаковка структури в окремі змінні: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2999"/>
            <a:ext cx="8229600" cy="2760785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3643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point = (10.5, 20.3, 5.0);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Повна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(x, y, z) = point;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Часткова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(x, ..) = point;   // тільки перший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(.., z) = point;   // тільки останній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циклі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points = [(1, 2), (3, 4), (5, 6)];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(x, y) in points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println!("({}, {})", x, y);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параметрах функції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distance((x1, y1): (f64, f64), (x2, y2): (f64, f64)) -&gt; f64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((x2-x1).powi(2) + (y2-y1).powi(2)).sqrt()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Повернення кількох значень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Кортеж дозволяє повертати кілька значень з функції: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22860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Функція повертає мінімум і максимум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min_max(numbers: &amp;[i32]) -&gt; (i32, i32)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mut min = numbers[0];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mut max = numbers[0];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&amp;n in numbers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 &lt; min { min = n;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 &gt; max { max = n;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(min, max)  // повертаємо кортеж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arr = [3, 1, 4, 1, 5, 9, 2, 6];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(min, max) = min_max(&amp;arr);  // деструктуризація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println!("Мін: {}, Макс: {}", min, max);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08080"/>
                </a:solidFill>
              </a:rPr>
              <a:t>ЧАСТИНА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Посилання &amp;T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Доступ до даних без передачі володіння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Що таке посилання?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Посилання (reference) — адреса в пам'яті, де знаходяться дані.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На відміну від вказівників у Сі, посилання в Rust завжди валідні.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&amp; — створює посилання (borrowing, запозичення)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* — розіменування (доступ до даних)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856936"/>
            <a:ext cx="8229600" cy="15544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ref_x = &amp;x;     // ref_x — посилання на x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println!("x = {}", x);           // 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println!("ref_x = {}", ref_x);   // 5 (авто-розіменування)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println!("*ref_x = {}", *ref_x); // 5 (явне розіменування)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Посилання НЕ копіює дані!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ref_x "дивиться" на ту саму пам'ять що й x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Навіщо потрібні посилання?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Передача великих даних без копіювання: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2999"/>
            <a:ext cx="8229600" cy="2286005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42764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БЕЗ посилання — копіювання (повільно для великих даних!)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print_copy(arr: [i32; 1000])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println!("{:?}", arr);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 посиланням — передаємо тільки адресу (швидко!)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print_ref(arr: &amp;[i32; 1000])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println!("{:?}", arr);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big = [0; 1000];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print_copy(big);  // копіює 4000 байт!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print_ref(&amp;big);     // передає 8 байт (адреса)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3400865"/>
            <a:ext cx="8229600" cy="3657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88087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&amp; перед змінною — створює посилання,  &amp; в типі — очікує посилання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&amp;T vs &amp;mut 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931920" cy="164592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EC9B0"/>
                </a:solidFill>
              </a:rPr>
              <a:t>&amp;T — тільки читання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 = &amp;x;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println!("{}", r); // OK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*r = 10; // ❌ не можна!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Можна багато &amp;T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r1 = &amp;x;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r2 = &amp;x;  // OK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754880" y="822960"/>
            <a:ext cx="3931920" cy="164592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8686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DCAA"/>
                </a:solidFill>
              </a:rPr>
              <a:t>&amp;mut T — читання і запис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46320" y="109728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x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 = &amp;mut x;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*r = 10;  // OK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println!("{}", x); // 10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Тільки ОДНЕ &amp;mut T!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let r2 = &amp;mut x; // ❌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422B"/>
                </a:solidFill>
              </a:rPr>
              <a:t>Правило: багато &amp;T АБО один &amp;mut T — ніколи разом!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08080"/>
                </a:solidFill>
              </a:rPr>
              <a:t>ЧАСТИНА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Слайси &amp;[T]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"Вікно" в послідовність даних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Що таке слайс?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Слайс (slice) — посилання на неперервну частину послідовності.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Характеристики: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НЕ володіє даними — тільки "дивиться"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Розмір НЕ частина типу (на відміну від масиву)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&amp;[T] може посилатись на частину [T; N] будь-якого N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[i32; 5]  — масив, розмір відомий компілятору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&amp;[i32]    — слайс, розмір відомий тільки runtime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2468880"/>
            <a:ext cx="8229600" cy="6858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1460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arr: [i32; 5] = [1, 2, 3, 4, 5];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slice: &amp;[i32] = &amp;arr[1..4];  // [2, 3, 4]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^^^^^ тип НЕ містить розміру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Fat Pointer — як влаштований слайс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Слайс — "fat pointer" (товстий вказівник), містить ДВА значення: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1. Вказівник на перший елемент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2. Довжина (кількість елементів)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┌───┬───┬───┬───┬───┐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arr: [i32; 5]             │ 1 │ 2 │ 3 │ 4 │ 5 │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└───┴───┴───┴───┴───┘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↑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slice: &amp;[i32] = &amp;arr[1..4]     ptr──┘  len: 3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Слайс "бачить": [2, 3, 4]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08080"/>
                </a:solidFill>
              </a:rPr>
              <a:t>Розмір &amp;[T]: 16 байт (8 ptr + 8 len) на 64-біт системі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Завдяки len слайс знає свою довжину — .len() працює!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Синтаксис діапазонів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0312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arr = [0, 1, 2, 3, 4, 5, 6, 7, 8, 9];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0  1  2  3  4  5  6  7  8  9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&amp;arr[2..5]    // [2, 3, 4]       — від 2 до 5 (НЕ включно)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&amp;arr[2..=5]   // [2, 3, 4, 5]    — від 2 до 5 (включно)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&amp;arr[..5]     // [0, 1, 2, 3, 4] — від початку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&amp;arr[5..]     // [5, 6, 7, 8, 9] — до кінця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&amp;arr[..]      // весь масив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Приклади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first = &amp;arr[..3];   // [0, 1, 2]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last = &amp;arr[7..];    // [7, 8, 9]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mid = &amp;arr[3..7];    // [3, 4, 5, 6]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090672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start..end — НЕ включає end,  start..=end — включає end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Слайси як параметри функцій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Функція з &amp;[T] працює з масивами будь-якого розміру: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22860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sum(numbers: &amp;[i32]) -&gt; i32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mut total = 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&amp;n in numbers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total += n;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arr3 = [1, 2, 3];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arr5 = [10, 20, 30, 40, 50];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sum(&amp;arr3));       // 6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sum(&amp;arr5));       // 150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sum(&amp;arr5[1..4])); // 90 (20+30+40)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Мутабельні слайси &amp;mut [T]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2919046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double_all(numbers: &amp;mut [i32])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n in numbers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*n *= 2;  // n: &amp;mut i32, *n — розіменування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mut arr = [1, 2, 3, 4, 5];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println!("До:    {:?}", arr);  // [1, 2, 3, 4, 5]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double_all(&amp;mut arr);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println!("Після: {:?}", arr);  // [2, 4, 6, 8, 10]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Частина масиву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mut arr2 = [1, 2, 3, 4, 5];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double_all(&amp;mut arr2[1..4]);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println!("{:?}", arr2);  // [1, 4, 6, 8, 5]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Рядкові слайси &amp;str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&amp;str — слайс байтів UTF-8 тексту: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118872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 = String::from("Hello, Rust!");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hello: &amp;str = &amp;s[0..5];   // "Hello"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rust: &amp;str = &amp;s[7..11];   // "Rust"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Рядковий літерал — це теж &amp;str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greeting: &amp;str = "Hello";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8229600" cy="128016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46888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4747"/>
                </a:solidFill>
              </a:rPr>
              <a:t>⚠️ УВАГА: індекси — це БАЙТИ, не символи!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Кирилиця займає 2 байти на символ: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"Привіт"[0..1] — 💥 ПАНІКА! (розріже 'П' навпіл)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"Привіт"[0..2] — OK, поверне "П"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"Привіт"[0..12] — OK, весь рядок (6 символів × 2 байти)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08080"/>
                </a:solidFill>
              </a:rPr>
              <a:t>ЧАСТИНА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Структури struct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Власні типи даних з іменованими полями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Що таке структура?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Структура (struct) — користувацький тип з іменованими полями.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Переваги над кортежами: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Поля мають імена — код самодокументується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Можна додавати методи через impl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• Можна реалізовувати traits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2074986"/>
            <a:ext cx="8229600" cy="14630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5740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Кортеж — незрозуміло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drone: (f64, f64, f64, u8, bool) = (0.0, 0.0, 0.0, 100, true);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Що таке drone.3?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Структура — зрозуміло!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Drone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x: f64, y: f64, z: f64,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battery: u8,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is_active: bool,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Оголошення структури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59"/>
            <a:ext cx="8229600" cy="2353525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42416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Структура оголошується ПОЗА функціями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x: f64,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y: f64,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Person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String,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age: u8,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is_student: bool,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Rectangle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width: u32,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height: u32,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3249637"/>
            <a:ext cx="8229600" cy="3657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322789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Конвенція: назва — PascalCase, поля — snake_case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Створення екземпляра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x: f64, y: f64 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ВСІ поля обов'язкові!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origin = Point { x: 0.0, y: 0.0 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Порядок не важливий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p = Point { y: 20.5, x: 10.0 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Доступ через крапку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println!("x={}, y={}", p.x, p.y);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Зміна (потрібен mut!)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mut p2 = Point { x: 1.0, y: 2.0 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p2.x = 5.0;  // OK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Скорочений синтаксис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5077"/>
            <a:ext cx="8229600" cy="2820572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90711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x: f64, y: f64 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Якщо ім'я змінної = ім'я поля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create(x: f64, y: f64) -&gt; Point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Point { x, y }  // замість Point { x: x, y: y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Копіювання полів з іншої структури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p1 = Point { x: 1.0, y: 2.0 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Нова структура, але змінюємо тільки x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p2 = Point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x: 5.0,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..p1  // решта з p1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println!("({}, {})", p2.x, p2.y);  // (5, 2)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Атрибут #[derive()]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#[derive(...)] — автоматично реалізує стандартні traits: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219456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Без derive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x: f64, y: f64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p = Point { x: 1.0, y: 2.0 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println!("{:?}", p);  // ❌ ПОМИЛКА!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 derive(Debug)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#[derive(Debug)]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Point2 { x: f64, y: f64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p2 = Point2 { x: 1.0, y: 2.0 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println!("{:?}", p2);   // Point2 { x: 1.0, y: 2.0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println!("{:#?}", p2);  // красивий формат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Можна комбінувати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#[derive(Debug, Clone, Copy, PartialEq)]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Point3 { x: f64, y: f64 }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Методи: impl блок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4688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Rectangle { width: u32, height: u32 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 Rectangle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Метод — перший параметр &amp;self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area(&amp;self) -&gt; u32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self.width * self.height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perimeter(&amp;self) -&gt; u32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2 * (self.width + self.height)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rect = Rectangle { width: 10, height: 5 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println!("Площа: {}", rect.area());       // 50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println!("Периметр: {}", rect.perimeter()); // 30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Типи self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65176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14865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 Rectangle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&amp;self — тільки читання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area(&amp;self) -&gt; u32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self.width * self.height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&amp;mut self — може змінювати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double(&amp;mut self)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self.width *= 2;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self.height *= 2;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self — забирає ownership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into_square(self) -&gt; Rectangle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side = (self.width + self.height) / 2;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Rectangle { width: side, height: side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3601329"/>
            <a:ext cx="8229600" cy="3657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674481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&amp;self — читає,  &amp;mut self — змінює,  self — забирає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Асоційовані функції (конструктори)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Функції в impl БЕЗ self — викликаються через Type::func():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229600" cy="2841674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 Rectangle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Конструктор — немає self!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new(width: u32, height: u32) -&gt; Rectangle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Rectangle { width, height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square(size: u32) -&gt; Rectangle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Rectangle { width: size, height: size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Виклик через :: (не крапку!)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rect = Rectangle::new(10, 5);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sq = Rectangle::square(7);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rect.area());  // 50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sq.area());    // 49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Tuple structs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Структури без іменованих полів: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79"/>
            <a:ext cx="8229600" cy="2890911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6218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Color(u8, u8, u8);        // RGB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Point3D(f64, f64, f64);   // x, y, z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red = Color(255, 0, 0);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origin = Point3D(0.0, 0.0, 0.0);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Доступ через індекс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println!("R={}", red.0);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Деструктуризація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Color(r, g, b) = red;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Newtype pattern — різні типи з однаковим вмістом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Meters(f64);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Seconds(f64);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Meters і Seconds — РІЗНІ типи!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08080"/>
                </a:solidFill>
              </a:rPr>
              <a:t>ЧАСТИНА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Практика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Моделювання агента БПЛА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Моделювання дрона: структури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411415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57068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#[derive(Debug)]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Position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x: f64,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y: f64,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z: f64,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#[derive(Debug)]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Drone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u32,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position: Position,  // вкладена структура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battery: u8,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is_active: bool,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 Position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new(x: f64, y: f64, z: f64) -&gt; Position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Position { x, y, z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origin() -&gt; Position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Position { x: 0.0, y: 0.0, z: 0.0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Моделювання дрона: методи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59"/>
            <a:ext cx="8229600" cy="3538025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9159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 Drone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new(id: u32) -&gt; Drone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Drone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id,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position: Position::origin(),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battery: 100,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is_active: false,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activate(&amp;mut self)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self.battery &gt; 10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self.is_active = true;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println!("Дрон {} активовано", self.id);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println!("Недостатньо заряду!");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status(&amp;self)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println!("Дрон {}: {}%, active={}",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self.id, self.battery, self.is_active);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Моделювання дрона: переміщення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3407898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04314"/>
            <a:ext cx="8046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 Drone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move_to(&amp;mut self, x: f64, y: f64, z: f64)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!self.is_active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println!("Дрон не активний!");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dx = x - self.position.x;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dy = y - self.position.y;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dz = z - self.position.z;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dist = (dx*dx + dy*dy + dz*dz).sqrt();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drain = (dist / 10.0) as u8;  // 1% на 10м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drain &gt; self.battery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println!("Недостатньо заряду!");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self.position = Position::new(x, y, z);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self.battery -= drain;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println!("Дрон {} → ({},{},{})", self.id, x, y, z);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Повний приклад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7432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mut drone = Drone::new(1);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drone.status();       // Дрон 1: 100%, active=false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drone.activate();     // Дрон 1 активовано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drone.move_to(100.0, 50.0, 30.0);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drone.move_to(150.0, 80.0, 25.0);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drone.status();       // Дрон 1: 85%, active=true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println!("{:#?}", drone);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Drone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id: 1,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position: Position { x: 150, y: 80, z: 25 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battery: 85,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is_active: true,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}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Завдання для самостійної роботи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1. Масив та Option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   Напишіть fn find(arr: &amp;[i32], target: i32) -&gt; Option&lt;usize&gt;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   що повертає індекс елемента або None.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2. Структура Student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   Поля: name, age, grades: [u8; 5].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   Методи: new(), average() -&gt; f64, is_excellent() -&gt; bool.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3. Rectangle з contains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   Методи: area(), perimeter(), contains(point: &amp;Point) -&gt; bool.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4. Рій дронів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   fn find_nearest(drones: &amp;[Drone], x, y, z) -&gt; Option&lt;usize&gt;</a:t>
            </a:r>
            <a:endParaRPr lang="en-US" sz="10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00" dirty="0">
                <a:solidFill>
                  <a:srgbClr val="D4D4D4"/>
                </a:solidFill>
              </a:rPr>
              <a:t>   Повертає індекс найближчого дрона.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E422B"/>
                </a:solidFill>
              </a:rPr>
              <a:t>Підсумок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3931920" cy="4114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777240"/>
            <a:ext cx="45720" cy="41148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046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9B0"/>
                </a:solidFill>
              </a:rPr>
              <a:t>Масиви [T; N]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377440" y="8046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Stack, фіксований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52728"/>
            <a:ext cx="3931920" cy="4114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252728"/>
            <a:ext cx="45720" cy="411480"/>
          </a:xfrm>
          <a:prstGeom prst="rect">
            <a:avLst/>
          </a:prstGeom>
          <a:solidFill>
            <a:srgbClr val="569CD6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69CD6"/>
                </a:solidFill>
              </a:rPr>
              <a:t>Option&lt;T&gt;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377440" y="12801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Some/None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3931920" cy="4114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28216"/>
            <a:ext cx="45720" cy="411480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1755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DCAA"/>
                </a:solidFill>
              </a:rPr>
              <a:t>match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377440" y="1755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Pattern matching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203704"/>
            <a:ext cx="3931920" cy="4114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203704"/>
            <a:ext cx="45720" cy="411480"/>
          </a:xfrm>
          <a:prstGeom prst="rect">
            <a:avLst/>
          </a:prstGeom>
          <a:solidFill>
            <a:srgbClr val="C586C0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2311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586C0"/>
                </a:solidFill>
              </a:rPr>
              <a:t>Кортежі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77440" y="22311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Різні типи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777240"/>
            <a:ext cx="3931920" cy="4114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777240"/>
            <a:ext cx="45720" cy="411480"/>
          </a:xfrm>
          <a:prstGeom prst="rect">
            <a:avLst/>
          </a:prstGeom>
          <a:solidFill>
            <a:srgbClr val="6A9955"/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8046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A9955"/>
                </a:solidFill>
              </a:rPr>
              <a:t>Посилання &amp;T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92240" y="8046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Borrowing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1252728"/>
            <a:ext cx="3931920" cy="4114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0" y="1252728"/>
            <a:ext cx="45720" cy="411480"/>
          </a:xfrm>
          <a:prstGeom prst="rect">
            <a:avLst/>
          </a:prstGeom>
          <a:solidFill>
            <a:srgbClr val="CE422B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12801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E422B"/>
                </a:solidFill>
              </a:rPr>
              <a:t>Слайси &amp;[T]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92240" y="12801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Fat pointer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728216"/>
            <a:ext cx="3931920" cy="4114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0" y="1728216"/>
            <a:ext cx="45720" cy="41148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1755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9B0"/>
                </a:solidFill>
              </a:rPr>
              <a:t>struct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92240" y="1755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Власні типи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0" y="2203704"/>
            <a:ext cx="3931920" cy="4114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0" y="2203704"/>
            <a:ext cx="45720" cy="411480"/>
          </a:xfrm>
          <a:prstGeom prst="rect">
            <a:avLst/>
          </a:prstGeom>
          <a:solidFill>
            <a:srgbClr val="569CD6"/>
          </a:solidFill>
          <a:ln/>
        </p:spPr>
      </p:sp>
      <p:sp>
        <p:nvSpPr>
          <p:cNvPr id="33" name="Text 31"/>
          <p:cNvSpPr/>
          <p:nvPr/>
        </p:nvSpPr>
        <p:spPr>
          <a:xfrm>
            <a:off x="4709160" y="22311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69CD6"/>
                </a:solidFill>
              </a:rPr>
              <a:t>impl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92240" y="22311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Методи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2743200"/>
            <a:ext cx="8229600" cy="100584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27889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422B"/>
                </a:solidFill>
              </a:rPr>
              <a:t>Наступна лекція: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30632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Ownership — унікальна система володіння пам'яттю Rust.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Чому String переміщується, а i32 копіюється? Move vs Copy. 🦀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5883</Words>
  <Application>Microsoft Office PowerPoint</Application>
  <PresentationFormat>Экран (16:9)</PresentationFormat>
  <Paragraphs>899</Paragraphs>
  <Slides>54</Slides>
  <Notes>54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54</vt:i4>
      </vt:variant>
    </vt:vector>
  </HeadingPairs>
  <TitlesOfParts>
    <vt:vector size="58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Структури даних у Rust</dc:title>
  <dc:subject>PptxGenJS Presentation</dc:subject>
  <dc:creator>PptxGenJS</dc:creator>
  <cp:lastModifiedBy>Алексей</cp:lastModifiedBy>
  <cp:revision>4</cp:revision>
  <dcterms:created xsi:type="dcterms:W3CDTF">2026-01-02T13:55:56Z</dcterms:created>
  <dcterms:modified xsi:type="dcterms:W3CDTF">2026-01-03T11:10:23Z</dcterms:modified>
</cp:coreProperties>
</file>