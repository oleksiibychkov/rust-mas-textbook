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310" r:id="rId15"/>
    <p:sldId id="269" r:id="rId16"/>
    <p:sldId id="311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12" r:id="rId49"/>
    <p:sldId id="313" r:id="rId50"/>
    <p:sldId id="301" r:id="rId51"/>
    <p:sldId id="314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63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93115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6179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7000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786022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79555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97862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Структури даних у Rust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08080"/>
                </a:solidFill>
              </a:rPr>
              <a:t>Масиви • Кортежі • Option • match • Слайси • Структури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</a:rPr>
              <a:t>Лекція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Бичков Олексій Сергійович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Кафедра теоретичної кібернетики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Зміст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834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1. Масиви [T; N] — фіксований розмір, один тип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2. Option&lt;T&gt; — обробка відсутніх значень (Some/None)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3. match — pattern matching (зіставлення з шаблоном)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4. Кортежі (T1, T2) — групування різних типів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5. Посилання &amp;T — borrowing (запозичення)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6. Слайси &amp;[T] — "вікно" в дані, fat pointer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7. Структури struct — власні типи даних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8. Методи impl — додавання поведінки до структур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9. Атрибути #[derive] — автоматична реалізація traits</a:t>
            </a:r>
            <a:endParaRPr lang="en-US" sz="12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10. Практика — моделювання агента БПЛА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Цілі лекції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EC9B0"/>
                </a:solidFill>
              </a:rPr>
              <a:t>Після цієї лекції ви зможете: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Створювати масиви фіксованого розміру [T; N]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Розуміти Option&lt;T&gt; та безпечно обробляти відсутні значення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Використовувати match для pattern matching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Групувати дані в кортежі та деструктуризувати їх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Розуміти посилання &amp; та слайси &amp;[T]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Створювати власні типи через struct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Додавати методи через impl блоки</a:t>
            </a:r>
            <a:endParaRPr lang="en-US" sz="12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00" dirty="0">
                <a:solidFill>
                  <a:srgbClr val="D4D4D4"/>
                </a:solidFill>
              </a:rPr>
              <a:t>• Моделювати реальні об'єкти (агент БПЛА)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Навіщо структури даних?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У Лекції 1 ми працювали з окремими змінними: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10.0;  let y = 20.0;  let z = 5.0;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battery = 85;  let is_active = true;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783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DCAA"/>
                </a:solidFill>
              </a:rPr>
              <a:t>Проблема: 5 змінних для одного дрона. А якщо дронів 100?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9B0"/>
                </a:solidFill>
              </a:rPr>
              <a:t>Рішення — структури даних: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688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Масиви [T; N] — багато значень одного типу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Кортежі (T1, T2) — кілька значень різних типів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• Структури struct — іменовані поля, власні типи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Масиви [T; N]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Фіксована кількість елементів одного типу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масив?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8554"/>
            <a:ext cx="8229600" cy="25532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Масив — послідовність елементів одного типу, </a:t>
            </a:r>
            <a:r>
              <a:rPr lang="en-US" sz="1100" dirty="0" err="1">
                <a:solidFill>
                  <a:srgbClr val="D4D4D4"/>
                </a:solidFill>
              </a:rPr>
              <a:t>що</a:t>
            </a:r>
            <a:r>
              <a:rPr lang="en-US" sz="1100" dirty="0">
                <a:solidFill>
                  <a:srgbClr val="D4D4D4"/>
                </a:solidFill>
              </a:rPr>
              <a:t> </a:t>
            </a:r>
            <a:r>
              <a:rPr lang="en-US" sz="1100" dirty="0" err="1">
                <a:solidFill>
                  <a:srgbClr val="D4D4D4"/>
                </a:solidFill>
              </a:rPr>
              <a:t>зберігаються</a:t>
            </a:r>
            <a:r>
              <a:rPr lang="uk-UA" sz="1100" dirty="0">
                <a:solidFill>
                  <a:srgbClr val="D4D4D4"/>
                </a:solidFill>
              </a:rPr>
              <a:t> </a:t>
            </a:r>
            <a:r>
              <a:rPr lang="en-US" sz="1100" dirty="0" err="1">
                <a:solidFill>
                  <a:srgbClr val="D4D4D4"/>
                </a:solidFill>
              </a:rPr>
              <a:t>поруч</a:t>
            </a:r>
            <a:r>
              <a:rPr lang="en-US" sz="1100" dirty="0">
                <a:solidFill>
                  <a:srgbClr val="D4D4D4"/>
                </a:solidFill>
              </a:rPr>
              <a:t> у пам'яті (контигуентно).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Ключові характеристики: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Фіксований розмір — відомий на етапі компіляції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Однотипні елементи — всі мають тип T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Зберігання на стеку — швидкий доступ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Розмір є частиною типу — [i32; 5] ≠ [i32; 6]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Синтаксис: [T; N]  де T — тип, N — кількість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20503" y="3439551"/>
            <a:ext cx="8229600" cy="5486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717453" y="3446585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arr: [i32; 5] = [1, 2, 3, 4, 5];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^^^^^^^^ тип: масив з 5 елементів i32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Де живуть дані: Stack vs Heap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737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Stack (Стек)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Швидке виділення пам'яті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Розмір відомий заздалегідь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Автоматичне звільнення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Обмежений розмір (~1-8 МБ)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Приклади: i32, f64, bool,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масиви [T; N], кортежі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7373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Heap (Купа)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46320" y="1143000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Повільніше виділення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Розмір може змінюватись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Потребує керування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Великий розмір (ГБ)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Приклади: String, Vec&lt;T&gt;,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Box&lt;T&gt;, динамічні дані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69748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7063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Масиви [T; N] живуть на стеку — швидко, але розмір фіксований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Оголошення масивів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19202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Явне перелічення елементів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days = ["Пн", "Вт", "Ср", "Чт", "Пт", "Сб", "Нд"];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явним типом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numbers: [i32; 5] = [1, 2, 3, 4, 5];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Заповнення однаковим значенням: [значення; кількість]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zeros = [0; 10];      // [0, 0, 0, 0, 0, 0, 0, 0, 0, 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matrix = [[0; 3]; 3]; // матриця 3×3 нулів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 виводиться автоматично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floats = [1.0, 2.0, 3.0];  // [f64; 3]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90779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[значення; кількість] — </a:t>
            </a:r>
            <a:r>
              <a:rPr lang="en-US" sz="1000" dirty="0" err="1">
                <a:solidFill>
                  <a:srgbClr val="D4D4D4"/>
                </a:solidFill>
              </a:rPr>
              <a:t>синтаксис</a:t>
            </a:r>
            <a:r>
              <a:rPr lang="uk-UA" sz="1000" dirty="0">
                <a:solidFill>
                  <a:srgbClr val="D4D4D4"/>
                </a:solidFill>
              </a:rPr>
              <a:t> для</a:t>
            </a:r>
            <a:r>
              <a:rPr lang="en-US" sz="1000" dirty="0">
                <a:solidFill>
                  <a:srgbClr val="D4D4D4"/>
                </a:solidFill>
              </a:rPr>
              <a:t> </a:t>
            </a:r>
            <a:r>
              <a:rPr lang="en-US" sz="1000" dirty="0" err="1">
                <a:solidFill>
                  <a:srgbClr val="D4D4D4"/>
                </a:solidFill>
              </a:rPr>
              <a:t>заповнення</a:t>
            </a:r>
            <a:r>
              <a:rPr lang="uk-UA" sz="1000" dirty="0">
                <a:solidFill>
                  <a:srgbClr val="D4D4D4"/>
                </a:solidFill>
              </a:rPr>
              <a:t> масиву</a:t>
            </a:r>
            <a:r>
              <a:rPr lang="en-US" sz="1000" dirty="0">
                <a:solidFill>
                  <a:srgbClr val="D4D4D4"/>
                </a:solidFill>
              </a:rPr>
              <a:t> однаковими значеннями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Доступ до елементів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86862" y="1818251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386862" y="181825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fruits = ["яблуко", "банан", "апельсин", "груша"];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індекси:      0         1          2          3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fruits[0]);  // яблуко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fruits[2]);  // апельсин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.len() — кількість елементів (тип usize)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println!("Кількість: {}", fruits.len());  // 4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Останній елемент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last = fruits[fruits.len() - 1];  // груша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Зміна (потрібен mut!)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scores = [10, 20, 30];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scores[1] = 25;  // [10, 25, 30]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Вихід за межі масиву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46304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Сі — невизначена поведінка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arr[3] = {1, 2, 3};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x = arr[10]; // ???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Читає "сміття"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Можливий segfault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Вразливість безпеки!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E422B"/>
                </a:solidFill>
              </a:rPr>
              <a:t>Rust — контрольована паніка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[1, 2, 3];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arr[10]; // ПАНІКА!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'index out of bounds: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len is 3 but index is 10'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46888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Чому паніка краща?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Програма зупиняється з чітким повідомленням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 працює з пошкодженими даними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Неможливо експлуатувати як вразливість (buffer overflow)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• Легше знайти та виправити баг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Option&lt;T&gt;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Безпечна обробка відсутніх значень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Проблема NULL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У багатьох мовах (C, Java, Python) є NULL/None/null — "відсутність значення".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Проблема: компілятор НЕ змушує перевіряти на NULL!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8229600" cy="1188720"/>
          </a:xfrm>
          <a:prstGeom prst="rect">
            <a:avLst/>
          </a:prstGeom>
          <a:solidFill>
            <a:srgbClr val="264F7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6304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Сі — небезпечно: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find(int arr[], int size, int target) {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i = 0; i &lt; size; i++)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(arr[i] == target) return &amp;arr[i];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NULL;  // не знайдено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int* result = find(arr, 5, 42);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printf("%d", *result);  // 💥 Якщо NULL — segfault!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DCAA"/>
                </a:solidFill>
              </a:rPr>
              <a:t>Тоні Хоар (винахідник NULL): "Моя помилка на мільярд доларів"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108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EC9B0"/>
                </a:solidFill>
              </a:rPr>
              <a:t>Rust вирішує це через Option&lt;T&gt; — компілятор ЗМУШУЄ обробляти!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Option&lt;T&gt;?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59"/>
            <a:ext cx="8229600" cy="10093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200" dirty="0" err="1">
                <a:solidFill>
                  <a:srgbClr val="D4D4D4"/>
                </a:solidFill>
              </a:rPr>
              <a:t>Option</a:t>
            </a:r>
            <a:r>
              <a:rPr lang="ru-RU" sz="1200" dirty="0">
                <a:solidFill>
                  <a:srgbClr val="D4D4D4"/>
                </a:solidFill>
              </a:rPr>
              <a:t>&lt;T&gt; — </a:t>
            </a:r>
            <a:r>
              <a:rPr lang="ru-RU" sz="1200" dirty="0" err="1">
                <a:solidFill>
                  <a:srgbClr val="D4D4D4"/>
                </a:solidFill>
              </a:rPr>
              <a:t>це</a:t>
            </a:r>
            <a:r>
              <a:rPr lang="ru-RU" sz="1200" dirty="0">
                <a:solidFill>
                  <a:srgbClr val="D4D4D4"/>
                </a:solidFill>
              </a:rPr>
              <a:t> </a:t>
            </a:r>
            <a:r>
              <a:rPr lang="ru-RU" sz="1200" dirty="0" err="1">
                <a:solidFill>
                  <a:srgbClr val="D4D4D4"/>
                </a:solidFill>
              </a:rPr>
              <a:t>спосіб</a:t>
            </a:r>
            <a:r>
              <a:rPr lang="ru-RU" sz="1200" dirty="0">
                <a:solidFill>
                  <a:srgbClr val="D4D4D4"/>
                </a:solidFill>
              </a:rPr>
              <a:t> </a:t>
            </a:r>
            <a:r>
              <a:rPr lang="ru-RU" sz="1200" dirty="0" err="1">
                <a:solidFill>
                  <a:srgbClr val="D4D4D4"/>
                </a:solidFill>
              </a:rPr>
              <a:t>Rust</a:t>
            </a:r>
            <a:r>
              <a:rPr lang="ru-RU" sz="1200" dirty="0">
                <a:solidFill>
                  <a:srgbClr val="D4D4D4"/>
                </a:solidFill>
              </a:rPr>
              <a:t> </a:t>
            </a:r>
            <a:r>
              <a:rPr lang="ru-RU" sz="1200" dirty="0" err="1">
                <a:solidFill>
                  <a:srgbClr val="D4D4D4"/>
                </a:solidFill>
              </a:rPr>
              <a:t>сказати</a:t>
            </a:r>
            <a:r>
              <a:rPr lang="ru-RU" sz="1200" dirty="0">
                <a:solidFill>
                  <a:srgbClr val="D4D4D4"/>
                </a:solidFill>
              </a:rPr>
              <a:t>: "тут </a:t>
            </a:r>
            <a:r>
              <a:rPr lang="ru-RU" sz="1200" dirty="0" err="1">
                <a:solidFill>
                  <a:srgbClr val="D4D4D4"/>
                </a:solidFill>
              </a:rPr>
              <a:t>може</a:t>
            </a:r>
            <a:r>
              <a:rPr lang="ru-RU" sz="1200" dirty="0">
                <a:solidFill>
                  <a:srgbClr val="D4D4D4"/>
                </a:solidFill>
              </a:rPr>
              <a:t> бути </a:t>
            </a:r>
            <a:r>
              <a:rPr lang="ru-RU" sz="1200" dirty="0" err="1">
                <a:solidFill>
                  <a:srgbClr val="D4D4D4"/>
                </a:solidFill>
              </a:rPr>
              <a:t>значення</a:t>
            </a:r>
            <a:r>
              <a:rPr lang="ru-RU" sz="1200" dirty="0">
                <a:solidFill>
                  <a:srgbClr val="D4D4D4"/>
                </a:solidFill>
              </a:rPr>
              <a:t>, а </a:t>
            </a:r>
            <a:r>
              <a:rPr lang="ru-RU" sz="1200" dirty="0" err="1">
                <a:solidFill>
                  <a:srgbClr val="D4D4D4"/>
                </a:solidFill>
              </a:rPr>
              <a:t>може</a:t>
            </a:r>
            <a:r>
              <a:rPr lang="ru-RU" sz="1200" dirty="0">
                <a:solidFill>
                  <a:srgbClr val="D4D4D4"/>
                </a:solidFill>
              </a:rPr>
              <a:t> й не бути".</a:t>
            </a:r>
          </a:p>
          <a:p>
            <a:pPr marL="0" indent="0">
              <a:buNone/>
            </a:pPr>
            <a:endParaRPr lang="ru-RU" sz="1200" dirty="0">
              <a:solidFill>
                <a:srgbClr val="D4D4D4"/>
              </a:solidFill>
            </a:endParaRPr>
          </a:p>
          <a:p>
            <a:pPr marL="0" indent="0">
              <a:buNone/>
            </a:pPr>
            <a:r>
              <a:rPr lang="ru-RU" sz="1200" dirty="0" err="1">
                <a:solidFill>
                  <a:srgbClr val="D4D4D4"/>
                </a:solidFill>
              </a:rPr>
              <a:t>Замість</a:t>
            </a:r>
            <a:r>
              <a:rPr lang="ru-RU" sz="1200" dirty="0">
                <a:solidFill>
                  <a:srgbClr val="D4D4D4"/>
                </a:solidFill>
              </a:rPr>
              <a:t> </a:t>
            </a:r>
            <a:r>
              <a:rPr lang="ru-RU" sz="1200" dirty="0" err="1">
                <a:solidFill>
                  <a:srgbClr val="D4D4D4"/>
                </a:solidFill>
              </a:rPr>
              <a:t>null</a:t>
            </a:r>
            <a:r>
              <a:rPr lang="ru-RU" sz="1200" dirty="0">
                <a:solidFill>
                  <a:srgbClr val="D4D4D4"/>
                </a:solidFill>
              </a:rPr>
              <a:t> (як в </a:t>
            </a:r>
            <a:r>
              <a:rPr lang="ru-RU" sz="1200" dirty="0" err="1">
                <a:solidFill>
                  <a:srgbClr val="D4D4D4"/>
                </a:solidFill>
              </a:rPr>
              <a:t>інших</a:t>
            </a:r>
            <a:r>
              <a:rPr lang="ru-RU" sz="1200" dirty="0">
                <a:solidFill>
                  <a:srgbClr val="D4D4D4"/>
                </a:solidFill>
              </a:rPr>
              <a:t> </a:t>
            </a:r>
            <a:r>
              <a:rPr lang="ru-RU" sz="1200" dirty="0" err="1">
                <a:solidFill>
                  <a:srgbClr val="D4D4D4"/>
                </a:solidFill>
              </a:rPr>
              <a:t>мовах</a:t>
            </a:r>
            <a:r>
              <a:rPr lang="ru-RU" sz="1200" dirty="0">
                <a:solidFill>
                  <a:srgbClr val="D4D4D4"/>
                </a:solidFill>
              </a:rPr>
              <a:t>):</a:t>
            </a:r>
            <a:endParaRPr lang="en-US" sz="1200" dirty="0">
              <a:solidFill>
                <a:srgbClr val="D4D4D4"/>
              </a:solidFill>
            </a:endParaRPr>
          </a:p>
          <a:p>
            <a:pPr marL="0" indent="0">
              <a:buNone/>
            </a:pPr>
            <a:r>
              <a:rPr lang="en-US" sz="1200" dirty="0">
                <a:solidFill>
                  <a:srgbClr val="D4D4D4"/>
                </a:solidFill>
              </a:rPr>
              <a:t>Option&lt;T&gt; — enum з двома варіантами: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923757"/>
            <a:ext cx="8229600" cy="914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69477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Визначення в стандартній бібліотеці: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Option&lt;T&gt;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Some(T),  // Є значення типу 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None,     // Значення відсутнє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3093838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Some(значення) — значення присутнє, "обгорнуте" в Some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None — значення відсутнє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&lt;T&gt; — generic (узагальнений тип):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Option&lt;i32&gt; — може містити i32 або бути None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   Option&lt;String&gt; — може містити String або бути None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4373998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447150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Ключове: Option ЗМУШУЄ явно обробити випадок відсутності!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Створення Option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369212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33234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Приклад:</a:t>
            </a:r>
          </a:p>
          <a:p>
            <a:pPr marL="0" indent="0">
              <a:buNone/>
            </a:pP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</a:rPr>
              <a:t>fn</a:t>
            </a:r>
            <a:r>
              <a:rPr lang="en-US" sz="900" dirty="0">
                <a:solidFill>
                  <a:schemeClr val="bg1"/>
                </a:solidFill>
              </a:rPr>
              <a:t> main() {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let </a:t>
            </a:r>
            <a:r>
              <a:rPr lang="en-US" sz="900" dirty="0" err="1">
                <a:solidFill>
                  <a:schemeClr val="bg1"/>
                </a:solidFill>
              </a:rPr>
              <a:t>arr</a:t>
            </a:r>
            <a:r>
              <a:rPr lang="en-US" sz="900" dirty="0">
                <a:solidFill>
                  <a:schemeClr val="bg1"/>
                </a:solidFill>
              </a:rPr>
              <a:t> = [1, 2, 3];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// get() </a:t>
            </a:r>
            <a:r>
              <a:rPr lang="ru-RU" sz="900" dirty="0" err="1">
                <a:solidFill>
                  <a:schemeClr val="bg1"/>
                </a:solidFill>
              </a:rPr>
              <a:t>повертає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Option — </a:t>
            </a:r>
            <a:r>
              <a:rPr lang="ru-RU" sz="900" dirty="0" err="1">
                <a:solidFill>
                  <a:schemeClr val="bg1"/>
                </a:solidFill>
              </a:rPr>
              <a:t>безпечно</a:t>
            </a:r>
            <a:r>
              <a:rPr lang="ru-RU" sz="900" dirty="0">
                <a:solidFill>
                  <a:schemeClr val="bg1"/>
                </a:solidFill>
              </a:rPr>
              <a:t>!</a:t>
            </a: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   </a:t>
            </a:r>
            <a:r>
              <a:rPr lang="en-US" sz="900" dirty="0">
                <a:solidFill>
                  <a:schemeClr val="bg1"/>
                </a:solidFill>
              </a:rPr>
              <a:t>let x = </a:t>
            </a:r>
            <a:r>
              <a:rPr lang="en-US" sz="900" dirty="0" err="1">
                <a:solidFill>
                  <a:schemeClr val="bg1"/>
                </a:solidFill>
              </a:rPr>
              <a:t>arr.get</a:t>
            </a:r>
            <a:r>
              <a:rPr lang="en-US" sz="900" dirty="0">
                <a:solidFill>
                  <a:schemeClr val="bg1"/>
                </a:solidFill>
              </a:rPr>
              <a:t>(10);  // None (</a:t>
            </a:r>
            <a:r>
              <a:rPr lang="ru-RU" sz="900" dirty="0" err="1">
                <a:solidFill>
                  <a:schemeClr val="bg1"/>
                </a:solidFill>
              </a:rPr>
              <a:t>індекс</a:t>
            </a:r>
            <a:r>
              <a:rPr lang="ru-RU" sz="900" dirty="0">
                <a:solidFill>
                  <a:schemeClr val="bg1"/>
                </a:solidFill>
              </a:rPr>
              <a:t> поза межами)</a:t>
            </a: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   </a:t>
            </a:r>
            <a:r>
              <a:rPr lang="en-US" sz="900" dirty="0">
                <a:solidFill>
                  <a:schemeClr val="bg1"/>
                </a:solidFill>
              </a:rPr>
              <a:t>let y = </a:t>
            </a:r>
            <a:r>
              <a:rPr lang="en-US" sz="900" dirty="0" err="1">
                <a:solidFill>
                  <a:schemeClr val="bg1"/>
                </a:solidFill>
              </a:rPr>
              <a:t>arr.get</a:t>
            </a:r>
            <a:r>
              <a:rPr lang="en-US" sz="900" dirty="0">
                <a:solidFill>
                  <a:schemeClr val="bg1"/>
                </a:solidFill>
              </a:rPr>
              <a:t>(1);   // Some(2)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// </a:t>
            </a:r>
            <a:r>
              <a:rPr lang="ru-RU" sz="900" dirty="0" err="1">
                <a:solidFill>
                  <a:schemeClr val="bg1"/>
                </a:solidFill>
              </a:rPr>
              <a:t>Обробка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Option: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match </a:t>
            </a:r>
            <a:r>
              <a:rPr lang="en-US" sz="900" dirty="0" err="1">
                <a:solidFill>
                  <a:schemeClr val="bg1"/>
                </a:solidFill>
              </a:rPr>
              <a:t>arr.get</a:t>
            </a:r>
            <a:r>
              <a:rPr lang="en-US" sz="900" dirty="0">
                <a:solidFill>
                  <a:schemeClr val="bg1"/>
                </a:solidFill>
              </a:rPr>
              <a:t>(1) {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    Some(value) =&gt; </a:t>
            </a: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ru-RU" sz="900" dirty="0" err="1">
                <a:solidFill>
                  <a:schemeClr val="bg1"/>
                </a:solidFill>
              </a:rPr>
              <a:t>Знайдено</a:t>
            </a:r>
            <a:r>
              <a:rPr lang="ru-RU" sz="900" dirty="0">
                <a:solidFill>
                  <a:schemeClr val="bg1"/>
                </a:solidFill>
              </a:rPr>
              <a:t>: {}", </a:t>
            </a:r>
            <a:r>
              <a:rPr lang="en-US" sz="900" dirty="0">
                <a:solidFill>
                  <a:schemeClr val="bg1"/>
                </a:solidFill>
              </a:rPr>
              <a:t>value),</a:t>
            </a:r>
            <a:r>
              <a:rPr lang="uk-UA" sz="900" dirty="0">
                <a:solidFill>
                  <a:schemeClr val="bg1"/>
                </a:solidFill>
              </a:rPr>
              <a:t>  </a:t>
            </a: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    None =&gt; </a:t>
            </a: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ru-RU" sz="900" dirty="0" err="1">
                <a:solidFill>
                  <a:schemeClr val="bg1"/>
                </a:solidFill>
              </a:rPr>
              <a:t>Нічого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немає</a:t>
            </a:r>
            <a:r>
              <a:rPr lang="ru-RU" sz="900" dirty="0">
                <a:solidFill>
                  <a:schemeClr val="bg1"/>
                </a:solidFill>
              </a:rPr>
              <a:t>"),</a:t>
            </a: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   // Або </a:t>
            </a:r>
            <a:r>
              <a:rPr lang="ru-RU" sz="900" dirty="0" err="1">
                <a:solidFill>
                  <a:schemeClr val="bg1"/>
                </a:solidFill>
              </a:rPr>
              <a:t>коротше</a:t>
            </a:r>
            <a:r>
              <a:rPr lang="ru-RU" sz="9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   </a:t>
            </a:r>
            <a:r>
              <a:rPr lang="en-US" sz="900" dirty="0">
                <a:solidFill>
                  <a:schemeClr val="bg1"/>
                </a:solidFill>
              </a:rPr>
              <a:t>if let Some(value) = </a:t>
            </a:r>
            <a:r>
              <a:rPr lang="en-US" sz="900" dirty="0" err="1">
                <a:solidFill>
                  <a:schemeClr val="bg1"/>
                </a:solidFill>
              </a:rPr>
              <a:t>arr.get</a:t>
            </a:r>
            <a:r>
              <a:rPr lang="en-US" sz="900" dirty="0">
                <a:solidFill>
                  <a:schemeClr val="bg1"/>
                </a:solidFill>
              </a:rPr>
              <a:t>(1) {</a:t>
            </a:r>
            <a:r>
              <a:rPr lang="uk-UA" sz="900" dirty="0">
                <a:solidFill>
                  <a:schemeClr val="bg1"/>
                </a:solidFill>
              </a:rPr>
              <a:t>                         </a:t>
            </a:r>
            <a:r>
              <a:rPr lang="en-US" sz="900" dirty="0">
                <a:solidFill>
                  <a:schemeClr val="bg1"/>
                </a:solidFill>
              </a:rPr>
              <a:t>// value </a:t>
            </a:r>
            <a:r>
              <a:rPr lang="uk-UA" sz="900" dirty="0">
                <a:solidFill>
                  <a:schemeClr val="bg1"/>
                </a:solidFill>
              </a:rPr>
              <a:t>просто назва, ім’я може бути будь-яким</a:t>
            </a:r>
            <a:r>
              <a:rPr lang="en-US" sz="9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    </a:t>
            </a: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ru-RU" sz="900" dirty="0" err="1">
                <a:solidFill>
                  <a:schemeClr val="bg1"/>
                </a:solidFill>
              </a:rPr>
              <a:t>Знайдено</a:t>
            </a:r>
            <a:r>
              <a:rPr lang="ru-RU" sz="900" dirty="0">
                <a:solidFill>
                  <a:schemeClr val="bg1"/>
                </a:solidFill>
              </a:rPr>
              <a:t>: {}", </a:t>
            </a:r>
            <a:r>
              <a:rPr lang="en-US" sz="900" dirty="0">
                <a:solidFill>
                  <a:schemeClr val="bg1"/>
                </a:solidFill>
              </a:rPr>
              <a:t>value);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}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// </a:t>
            </a:r>
            <a:r>
              <a:rPr lang="ru-RU" sz="900" dirty="0" err="1">
                <a:solidFill>
                  <a:schemeClr val="bg1"/>
                </a:solidFill>
              </a:rPr>
              <a:t>Отримати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значення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або</a:t>
            </a:r>
            <a:r>
              <a:rPr lang="ru-RU" sz="900" dirty="0">
                <a:solidFill>
                  <a:schemeClr val="bg1"/>
                </a:solidFill>
              </a:rPr>
              <a:t> дефолт:</a:t>
            </a: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   </a:t>
            </a:r>
            <a:r>
              <a:rPr lang="en-US" sz="900" dirty="0">
                <a:solidFill>
                  <a:schemeClr val="bg1"/>
                </a:solidFill>
              </a:rPr>
              <a:t>let z = </a:t>
            </a:r>
            <a:r>
              <a:rPr lang="en-US" sz="900" dirty="0" err="1">
                <a:solidFill>
                  <a:schemeClr val="bg1"/>
                </a:solidFill>
              </a:rPr>
              <a:t>arr.get</a:t>
            </a:r>
            <a:r>
              <a:rPr lang="en-US" sz="900" dirty="0">
                <a:solidFill>
                  <a:schemeClr val="bg1"/>
                </a:solidFill>
              </a:rPr>
              <a:t>(10).</a:t>
            </a:r>
            <a:r>
              <a:rPr lang="en-US" sz="900" dirty="0" err="1">
                <a:solidFill>
                  <a:schemeClr val="bg1"/>
                </a:solidFill>
              </a:rPr>
              <a:t>unwrap_or</a:t>
            </a:r>
            <a:r>
              <a:rPr lang="en-US" sz="900" dirty="0">
                <a:solidFill>
                  <a:schemeClr val="bg1"/>
                </a:solidFill>
              </a:rPr>
              <a:t>(&amp;0);  // 0 </a:t>
            </a:r>
            <a:r>
              <a:rPr lang="ru-RU" sz="900" dirty="0" err="1">
                <a:solidFill>
                  <a:schemeClr val="bg1"/>
                </a:solidFill>
              </a:rPr>
              <a:t>якщо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None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942783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Створення Option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128868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400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uk-UA" sz="900" dirty="0">
                <a:solidFill>
                  <a:schemeClr val="bg1"/>
                </a:solidFill>
              </a:rPr>
              <a:t>Розберемо приклад:</a:t>
            </a: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x: Option&lt;i32&gt; = Some(42);</a:t>
            </a:r>
          </a:p>
          <a:p>
            <a:pPr marL="0" indent="0">
              <a:buNone/>
            </a:pP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 по </a:t>
            </a:r>
            <a:r>
              <a:rPr lang="ru-RU" sz="900" dirty="0" err="1">
                <a:solidFill>
                  <a:schemeClr val="bg1"/>
                </a:solidFill>
              </a:rPr>
              <a:t>частинах</a:t>
            </a:r>
            <a:r>
              <a:rPr lang="ru-RU" sz="9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900" dirty="0" err="1">
                <a:solidFill>
                  <a:schemeClr val="bg1"/>
                </a:solidFill>
              </a:rPr>
              <a:t>Частина</a:t>
            </a:r>
            <a:r>
              <a:rPr lang="ru-RU" sz="900" dirty="0">
                <a:solidFill>
                  <a:schemeClr val="bg1"/>
                </a:solidFill>
              </a:rPr>
              <a:t>	</a:t>
            </a:r>
            <a:r>
              <a:rPr lang="ru-RU" sz="900" dirty="0" err="1">
                <a:solidFill>
                  <a:schemeClr val="bg1"/>
                </a:solidFill>
              </a:rPr>
              <a:t>Значення</a:t>
            </a: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x	</a:t>
            </a:r>
            <a:r>
              <a:rPr lang="ru-RU" sz="900" dirty="0" err="1">
                <a:solidFill>
                  <a:schemeClr val="bg1"/>
                </a:solidFill>
              </a:rPr>
              <a:t>оголосити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змінну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x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: Option&lt;i32&gt;	</a:t>
            </a:r>
            <a:r>
              <a:rPr lang="ru-RU" sz="900" dirty="0">
                <a:solidFill>
                  <a:schemeClr val="bg1"/>
                </a:solidFill>
              </a:rPr>
              <a:t>тип </a:t>
            </a:r>
            <a:r>
              <a:rPr lang="ru-RU" sz="900" dirty="0" err="1">
                <a:solidFill>
                  <a:schemeClr val="bg1"/>
                </a:solidFill>
              </a:rPr>
              <a:t>змінної</a:t>
            </a:r>
            <a:r>
              <a:rPr lang="ru-RU" sz="900" dirty="0">
                <a:solidFill>
                  <a:schemeClr val="bg1"/>
                </a:solidFill>
              </a:rPr>
              <a:t> — </a:t>
            </a:r>
            <a:r>
              <a:rPr lang="en-US" sz="900" dirty="0">
                <a:solidFill>
                  <a:schemeClr val="bg1"/>
                </a:solidFill>
              </a:rPr>
              <a:t>Option </a:t>
            </a:r>
            <a:r>
              <a:rPr lang="ru-RU" sz="900" dirty="0" err="1">
                <a:solidFill>
                  <a:schemeClr val="bg1"/>
                </a:solidFill>
              </a:rPr>
              <a:t>що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містить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i32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= Some(42)	</a:t>
            </a:r>
            <a:r>
              <a:rPr lang="ru-RU" sz="900" dirty="0" err="1">
                <a:solidFill>
                  <a:schemeClr val="bg1"/>
                </a:solidFill>
              </a:rPr>
              <a:t>значення</a:t>
            </a:r>
            <a:r>
              <a:rPr lang="ru-RU" sz="900" dirty="0">
                <a:solidFill>
                  <a:schemeClr val="bg1"/>
                </a:solidFill>
              </a:rPr>
              <a:t> — є число 42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Option&lt;i32&gt; </a:t>
            </a:r>
            <a:r>
              <a:rPr lang="ru-RU" sz="900" dirty="0" err="1">
                <a:solidFill>
                  <a:schemeClr val="bg1"/>
                </a:solidFill>
              </a:rPr>
              <a:t>означає</a:t>
            </a:r>
            <a:r>
              <a:rPr lang="ru-RU" sz="900" dirty="0">
                <a:solidFill>
                  <a:schemeClr val="bg1"/>
                </a:solidFill>
              </a:rPr>
              <a:t>: "</a:t>
            </a:r>
            <a:r>
              <a:rPr lang="ru-RU" sz="900" dirty="0" err="1">
                <a:solidFill>
                  <a:schemeClr val="bg1"/>
                </a:solidFill>
              </a:rPr>
              <a:t>може</a:t>
            </a:r>
            <a:r>
              <a:rPr lang="ru-RU" sz="900" dirty="0">
                <a:solidFill>
                  <a:schemeClr val="bg1"/>
                </a:solidFill>
              </a:rPr>
              <a:t> бути </a:t>
            </a:r>
            <a:r>
              <a:rPr lang="en-US" sz="900" dirty="0">
                <a:solidFill>
                  <a:schemeClr val="bg1"/>
                </a:solidFill>
              </a:rPr>
              <a:t>i32, </a:t>
            </a:r>
            <a:r>
              <a:rPr lang="ru-RU" sz="900" dirty="0">
                <a:solidFill>
                  <a:schemeClr val="bg1"/>
                </a:solidFill>
              </a:rPr>
              <a:t>а </a:t>
            </a:r>
            <a:r>
              <a:rPr lang="ru-RU" sz="900" dirty="0" err="1">
                <a:solidFill>
                  <a:schemeClr val="bg1"/>
                </a:solidFill>
              </a:rPr>
              <a:t>може</a:t>
            </a:r>
            <a:r>
              <a:rPr lang="ru-RU" sz="900" dirty="0">
                <a:solidFill>
                  <a:schemeClr val="bg1"/>
                </a:solidFill>
              </a:rPr>
              <a:t> бути </a:t>
            </a:r>
            <a:r>
              <a:rPr lang="ru-RU" sz="900" dirty="0" err="1">
                <a:solidFill>
                  <a:schemeClr val="bg1"/>
                </a:solidFill>
              </a:rPr>
              <a:t>нічого</a:t>
            </a:r>
            <a:r>
              <a:rPr lang="ru-RU" sz="900" dirty="0">
                <a:solidFill>
                  <a:schemeClr val="bg1"/>
                </a:solidFill>
              </a:rPr>
              <a:t>"</a:t>
            </a:r>
          </a:p>
          <a:p>
            <a:pPr marL="0" indent="0">
              <a:buNone/>
            </a:pP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x: Option&lt;i32&gt; = Some(42);   // </a:t>
            </a:r>
            <a:r>
              <a:rPr lang="ru-RU" sz="900" dirty="0">
                <a:solidFill>
                  <a:schemeClr val="bg1"/>
                </a:solidFill>
              </a:rPr>
              <a:t>є </a:t>
            </a:r>
            <a:r>
              <a:rPr lang="ru-RU" sz="900" dirty="0" err="1">
                <a:solidFill>
                  <a:schemeClr val="bg1"/>
                </a:solidFill>
              </a:rPr>
              <a:t>значення</a:t>
            </a:r>
            <a:r>
              <a:rPr lang="ru-RU" sz="900" dirty="0">
                <a:solidFill>
                  <a:schemeClr val="bg1"/>
                </a:solidFill>
              </a:rPr>
              <a:t> 42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y: Option&lt;i32&gt; = None;       // </a:t>
            </a:r>
            <a:r>
              <a:rPr lang="ru-RU" sz="900" dirty="0" err="1">
                <a:solidFill>
                  <a:schemeClr val="bg1"/>
                </a:solidFill>
              </a:rPr>
              <a:t>немає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значення</a:t>
            </a: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// &lt;</a:t>
            </a:r>
            <a:r>
              <a:rPr lang="en-US" sz="900" dirty="0">
                <a:solidFill>
                  <a:schemeClr val="bg1"/>
                </a:solidFill>
              </a:rPr>
              <a:t>i32&gt; — </a:t>
            </a:r>
            <a:r>
              <a:rPr lang="ru-RU" sz="900" dirty="0" err="1">
                <a:solidFill>
                  <a:schemeClr val="bg1"/>
                </a:solidFill>
              </a:rPr>
              <a:t>це</a:t>
            </a:r>
            <a:r>
              <a:rPr lang="ru-RU" sz="900" dirty="0">
                <a:solidFill>
                  <a:schemeClr val="bg1"/>
                </a:solidFill>
              </a:rPr>
              <a:t> параметр типу (</a:t>
            </a:r>
            <a:r>
              <a:rPr lang="en-US" sz="900" dirty="0">
                <a:solidFill>
                  <a:schemeClr val="bg1"/>
                </a:solidFill>
              </a:rPr>
              <a:t>generic)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Option&lt;i32&gt;  — </a:t>
            </a:r>
            <a:r>
              <a:rPr lang="ru-RU" sz="900" dirty="0" err="1">
                <a:solidFill>
                  <a:schemeClr val="bg1"/>
                </a:solidFill>
              </a:rPr>
              <a:t>може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містити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i32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Option&lt;String&gt; — </a:t>
            </a:r>
            <a:r>
              <a:rPr lang="ru-RU" sz="900" dirty="0" err="1">
                <a:solidFill>
                  <a:schemeClr val="bg1"/>
                </a:solidFill>
              </a:rPr>
              <a:t>може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містити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String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Option&lt;bool&gt; — </a:t>
            </a:r>
            <a:r>
              <a:rPr lang="ru-RU" sz="900" dirty="0" err="1">
                <a:solidFill>
                  <a:schemeClr val="bg1"/>
                </a:solidFill>
              </a:rPr>
              <a:t>може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містити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bool</a:t>
            </a: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u-RU" sz="900" dirty="0">
                <a:solidFill>
                  <a:schemeClr val="bg1"/>
                </a:solidFill>
              </a:rPr>
              <a:t>Тип </a:t>
            </a:r>
            <a:r>
              <a:rPr lang="ru-RU" sz="900" dirty="0" err="1">
                <a:solidFill>
                  <a:schemeClr val="bg1"/>
                </a:solidFill>
              </a:rPr>
              <a:t>можна</a:t>
            </a:r>
            <a:r>
              <a:rPr lang="ru-RU" sz="900" dirty="0">
                <a:solidFill>
                  <a:schemeClr val="bg1"/>
                </a:solidFill>
              </a:rPr>
              <a:t> не </a:t>
            </a:r>
            <a:r>
              <a:rPr lang="ru-RU" sz="900" dirty="0" err="1">
                <a:solidFill>
                  <a:schemeClr val="bg1"/>
                </a:solidFill>
              </a:rPr>
              <a:t>писати</a:t>
            </a:r>
            <a:r>
              <a:rPr lang="ru-RU" sz="900" dirty="0">
                <a:solidFill>
                  <a:schemeClr val="bg1"/>
                </a:solidFill>
              </a:rPr>
              <a:t> — </a:t>
            </a:r>
            <a:r>
              <a:rPr lang="en-US" sz="900" dirty="0">
                <a:solidFill>
                  <a:schemeClr val="bg1"/>
                </a:solidFill>
              </a:rPr>
              <a:t>Rust </a:t>
            </a:r>
            <a:r>
              <a:rPr lang="ru-RU" sz="900" dirty="0">
                <a:solidFill>
                  <a:schemeClr val="bg1"/>
                </a:solidFill>
              </a:rPr>
              <a:t>сам </a:t>
            </a:r>
            <a:r>
              <a:rPr lang="ru-RU" sz="900" dirty="0" err="1">
                <a:solidFill>
                  <a:schemeClr val="bg1"/>
                </a:solidFill>
              </a:rPr>
              <a:t>визначить</a:t>
            </a:r>
            <a:r>
              <a:rPr lang="ru-RU" sz="900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endParaRPr lang="ru-RU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x = Some(42);       // Rust </a:t>
            </a:r>
            <a:r>
              <a:rPr lang="ru-RU" sz="900" dirty="0" err="1">
                <a:solidFill>
                  <a:schemeClr val="bg1"/>
                </a:solidFill>
              </a:rPr>
              <a:t>зрозуміє</a:t>
            </a:r>
            <a:r>
              <a:rPr lang="ru-RU" sz="900" dirty="0">
                <a:solidFill>
                  <a:schemeClr val="bg1"/>
                </a:solidFill>
              </a:rPr>
              <a:t>: </a:t>
            </a:r>
            <a:r>
              <a:rPr lang="en-US" sz="900" dirty="0">
                <a:solidFill>
                  <a:schemeClr val="bg1"/>
                </a:solidFill>
              </a:rPr>
              <a:t>Option&lt;i32&gt;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y = Some("hello");  // Rust </a:t>
            </a:r>
            <a:r>
              <a:rPr lang="ru-RU" sz="900" dirty="0" err="1">
                <a:solidFill>
                  <a:schemeClr val="bg1"/>
                </a:solidFill>
              </a:rPr>
              <a:t>зрозуміє</a:t>
            </a:r>
            <a:r>
              <a:rPr lang="ru-RU" sz="900" dirty="0">
                <a:solidFill>
                  <a:schemeClr val="bg1"/>
                </a:solidFill>
              </a:rPr>
              <a:t>: </a:t>
            </a:r>
            <a:r>
              <a:rPr lang="en-US" sz="900" dirty="0">
                <a:solidFill>
                  <a:schemeClr val="bg1"/>
                </a:solidFill>
              </a:rPr>
              <a:t>Option&lt;&amp;str&gt;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z: Option&lt;i32&gt; = None;  // </a:t>
            </a:r>
            <a:r>
              <a:rPr lang="ru-RU" sz="900" dirty="0">
                <a:solidFill>
                  <a:schemeClr val="bg1"/>
                </a:solidFill>
              </a:rPr>
              <a:t>тут тип </a:t>
            </a:r>
            <a:r>
              <a:rPr lang="ru-RU" sz="900" dirty="0" err="1">
                <a:solidFill>
                  <a:schemeClr val="bg1"/>
                </a:solidFill>
              </a:rPr>
              <a:t>потрібен</a:t>
            </a:r>
            <a:r>
              <a:rPr lang="ru-RU" sz="900" dirty="0">
                <a:solidFill>
                  <a:schemeClr val="bg1"/>
                </a:solidFill>
              </a:rPr>
              <a:t>, </a:t>
            </a:r>
            <a:r>
              <a:rPr lang="ru-RU" sz="900" dirty="0" err="1">
                <a:solidFill>
                  <a:schemeClr val="bg1"/>
                </a:solidFill>
              </a:rPr>
              <a:t>бо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en-US" sz="900" dirty="0">
                <a:solidFill>
                  <a:schemeClr val="bg1"/>
                </a:solidFill>
              </a:rPr>
              <a:t>None </a:t>
            </a:r>
            <a:r>
              <a:rPr lang="ru-RU" sz="900" dirty="0">
                <a:solidFill>
                  <a:schemeClr val="bg1"/>
                </a:solidFill>
              </a:rPr>
              <a:t>не </a:t>
            </a:r>
            <a:r>
              <a:rPr lang="ru-RU" sz="900" dirty="0" err="1">
                <a:solidFill>
                  <a:schemeClr val="bg1"/>
                </a:solidFill>
              </a:rPr>
              <a:t>має</a:t>
            </a:r>
            <a:r>
              <a:rPr lang="ru-RU" sz="900" dirty="0">
                <a:solidFill>
                  <a:schemeClr val="bg1"/>
                </a:solidFill>
              </a:rPr>
              <a:t> </a:t>
            </a:r>
            <a:r>
              <a:rPr lang="ru-RU" sz="900" dirty="0" err="1">
                <a:solidFill>
                  <a:schemeClr val="bg1"/>
                </a:solidFill>
              </a:rPr>
              <a:t>значення</a:t>
            </a:r>
            <a:endParaRPr lang="en-US" sz="9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Створення Option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4128868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40005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let x: Option&lt;i32&gt; = Some(42);</a:t>
            </a: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</a:t>
            </a: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uk-UA" sz="900" dirty="0">
                <a:solidFill>
                  <a:schemeClr val="bg1"/>
                </a:solidFill>
              </a:rPr>
              <a:t>Знайдено: {}", </a:t>
            </a:r>
            <a:r>
              <a:rPr lang="en-US" sz="900" dirty="0">
                <a:solidFill>
                  <a:schemeClr val="bg1"/>
                </a:solidFill>
              </a:rPr>
              <a:t>x);</a:t>
            </a: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uk-UA" sz="900" dirty="0">
                <a:solidFill>
                  <a:schemeClr val="bg1"/>
                </a:solidFill>
              </a:rPr>
              <a:t>Буде помилка!  </a:t>
            </a:r>
            <a:r>
              <a:rPr lang="en-US" sz="900" dirty="0">
                <a:solidFill>
                  <a:schemeClr val="bg1"/>
                </a:solidFill>
              </a:rPr>
              <a:t>Option </a:t>
            </a:r>
            <a:r>
              <a:rPr lang="uk-UA" sz="900" dirty="0">
                <a:solidFill>
                  <a:schemeClr val="bg1"/>
                </a:solidFill>
              </a:rPr>
              <a:t>не можна вивести через {} напряму — потрібно або розпакувати, або використати {:?}.</a:t>
            </a: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uk-UA" sz="900" dirty="0">
                <a:solidFill>
                  <a:schemeClr val="bg1"/>
                </a:solidFill>
              </a:rPr>
              <a:t>Варіанти виправлення:</a:t>
            </a: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let x: Option&lt;i32&gt; = Some(42);</a:t>
            </a: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1. </a:t>
            </a:r>
            <a:r>
              <a:rPr lang="uk-UA" sz="900" dirty="0">
                <a:solidFill>
                  <a:schemeClr val="bg1"/>
                </a:solidFill>
              </a:rPr>
              <a:t>Використати {:?} (</a:t>
            </a:r>
            <a:r>
              <a:rPr lang="en-US" sz="900" dirty="0">
                <a:solidFill>
                  <a:schemeClr val="bg1"/>
                </a:solidFill>
              </a:rPr>
              <a:t>Debug </a:t>
            </a:r>
            <a:r>
              <a:rPr lang="uk-UA" sz="900" dirty="0">
                <a:solidFill>
                  <a:schemeClr val="bg1"/>
                </a:solidFill>
              </a:rPr>
              <a:t>формат)</a:t>
            </a: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uk-UA" sz="900" dirty="0">
                <a:solidFill>
                  <a:schemeClr val="bg1"/>
                </a:solidFill>
              </a:rPr>
              <a:t>Знайдено: {:?}", </a:t>
            </a:r>
            <a:r>
              <a:rPr lang="en-US" sz="900" dirty="0">
                <a:solidFill>
                  <a:schemeClr val="bg1"/>
                </a:solidFill>
              </a:rPr>
              <a:t>x);        // Some(42)</a:t>
            </a: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2. </a:t>
            </a:r>
            <a:r>
              <a:rPr lang="uk-UA" sz="900" dirty="0">
                <a:solidFill>
                  <a:schemeClr val="bg1"/>
                </a:solidFill>
              </a:rPr>
              <a:t>Розпакувати через </a:t>
            </a:r>
            <a:r>
              <a:rPr lang="en-US" sz="900" dirty="0">
                <a:solidFill>
                  <a:schemeClr val="bg1"/>
                </a:solidFill>
              </a:rPr>
              <a:t>unwrap() (</a:t>
            </a:r>
            <a:r>
              <a:rPr lang="uk-UA" sz="900" dirty="0">
                <a:solidFill>
                  <a:schemeClr val="bg1"/>
                </a:solidFill>
              </a:rPr>
              <a:t>небезпечно — паніка якщо </a:t>
            </a:r>
            <a:r>
              <a:rPr lang="en-US" sz="900" dirty="0">
                <a:solidFill>
                  <a:schemeClr val="bg1"/>
                </a:solidFill>
              </a:rPr>
              <a:t>None!)</a:t>
            </a: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uk-UA" sz="900" dirty="0">
                <a:solidFill>
                  <a:schemeClr val="bg1"/>
                </a:solidFill>
              </a:rPr>
              <a:t>Знайдено: {}", </a:t>
            </a:r>
            <a:r>
              <a:rPr lang="en-US" sz="900" dirty="0" err="1">
                <a:solidFill>
                  <a:schemeClr val="bg1"/>
                </a:solidFill>
              </a:rPr>
              <a:t>x.unwrap</a:t>
            </a:r>
            <a:r>
              <a:rPr lang="en-US" sz="900" dirty="0">
                <a:solidFill>
                  <a:schemeClr val="bg1"/>
                </a:solidFill>
              </a:rPr>
              <a:t>()); // 42</a:t>
            </a: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3. </a:t>
            </a:r>
            <a:r>
              <a:rPr lang="uk-UA" sz="900" dirty="0">
                <a:solidFill>
                  <a:schemeClr val="bg1"/>
                </a:solidFill>
              </a:rPr>
              <a:t>Безпечно через </a:t>
            </a:r>
            <a:r>
              <a:rPr lang="en-US" sz="900" dirty="0" err="1">
                <a:solidFill>
                  <a:schemeClr val="bg1"/>
                </a:solidFill>
              </a:rPr>
              <a:t>unwrap_or</a:t>
            </a:r>
            <a:r>
              <a:rPr lang="en-US" sz="900" dirty="0">
                <a:solidFill>
                  <a:schemeClr val="bg1"/>
                </a:solidFill>
              </a:rPr>
              <a:t>()</a:t>
            </a:r>
          </a:p>
          <a:p>
            <a:pPr marL="0" indent="0">
              <a:buNone/>
            </a:pP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uk-UA" sz="900" dirty="0">
                <a:solidFill>
                  <a:schemeClr val="bg1"/>
                </a:solidFill>
              </a:rPr>
              <a:t>Знайдено: {}", </a:t>
            </a:r>
            <a:r>
              <a:rPr lang="en-US" sz="900" dirty="0" err="1">
                <a:solidFill>
                  <a:schemeClr val="bg1"/>
                </a:solidFill>
              </a:rPr>
              <a:t>x.unwrap_or</a:t>
            </a:r>
            <a:r>
              <a:rPr lang="en-US" sz="900" dirty="0">
                <a:solidFill>
                  <a:schemeClr val="bg1"/>
                </a:solidFill>
              </a:rPr>
              <a:t>(0)); // 42, </a:t>
            </a:r>
            <a:r>
              <a:rPr lang="uk-UA" sz="900" dirty="0">
                <a:solidFill>
                  <a:schemeClr val="bg1"/>
                </a:solidFill>
              </a:rPr>
              <a:t>або 0 якщо </a:t>
            </a:r>
            <a:r>
              <a:rPr lang="en-US" sz="900" dirty="0">
                <a:solidFill>
                  <a:schemeClr val="bg1"/>
                </a:solidFill>
              </a:rPr>
              <a:t>None</a:t>
            </a: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4. </a:t>
            </a:r>
            <a:r>
              <a:rPr lang="uk-UA" sz="900" dirty="0">
                <a:solidFill>
                  <a:schemeClr val="bg1"/>
                </a:solidFill>
              </a:rPr>
              <a:t>Через </a:t>
            </a:r>
            <a:r>
              <a:rPr lang="en-US" sz="900" dirty="0">
                <a:solidFill>
                  <a:schemeClr val="bg1"/>
                </a:solidFill>
              </a:rPr>
              <a:t>if let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if let Some(value) = x {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    </a:t>
            </a:r>
            <a:r>
              <a:rPr lang="en-US" sz="900" dirty="0" err="1">
                <a:solidFill>
                  <a:schemeClr val="bg1"/>
                </a:solidFill>
              </a:rPr>
              <a:t>println</a:t>
            </a:r>
            <a:r>
              <a:rPr lang="en-US" sz="900" dirty="0">
                <a:solidFill>
                  <a:schemeClr val="bg1"/>
                </a:solidFill>
              </a:rPr>
              <a:t>!("</a:t>
            </a:r>
            <a:r>
              <a:rPr lang="uk-UA" sz="900" dirty="0">
                <a:solidFill>
                  <a:schemeClr val="bg1"/>
                </a:solidFill>
              </a:rPr>
              <a:t>Знайдено: {}", </a:t>
            </a:r>
            <a:r>
              <a:rPr lang="en-US" sz="900" dirty="0">
                <a:solidFill>
                  <a:schemeClr val="bg1"/>
                </a:solidFill>
              </a:rPr>
              <a:t>value);  // 42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5175052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match?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endParaRPr lang="en-US" sz="1100" dirty="0">
              <a:solidFill>
                <a:srgbClr val="D4D4D4"/>
              </a:solidFill>
            </a:endParaRPr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match — конструкція для pattern matching (зіставлення з шаблоном).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Порівнює значення з набором шаблонів, виконує код першого, що підійшов.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Особливості: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Перевіряє ВСІ можливі варіанти (exhaustive)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Компілятор гарантує — нічого не пропущено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Кожна гілка може повертати значення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2504045"/>
            <a:ext cx="822960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00533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number = 3;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number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=&gt; println!("Один"),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=&gt; println!("Два"),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3 =&gt; println!("Три"),   // ← виконається ця гілка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println!("Інше"),  // _ означає "все інше"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Синтаксис match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3770142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46981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Проста форма — один вираз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x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=&gt; println!("один"),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=&gt; println!("два"),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println!("інше"),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блоками коду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x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println!("Це одиниця!");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println!("Спеціальне число");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| 3 | 4 =&gt; println!("2, 3 або 4"),  // | означає "або"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5..=10 =&gt; println!("Від 5 до 10"),    // діапазон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println!("Щось інше"),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match як вираз — повертає значення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word = match x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1 =&gt; "один",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2 =&gt; "два",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_ =&gt; "багато",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match для Option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match ідеально підходить для Option — обробляємо обидва випадки: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71268" y="1086728"/>
            <a:ext cx="8229600" cy="2627142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maybe_number: Option&lt;i32&gt; = Some(42);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maybe_number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Some(n)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n — "розгорнуте" значення (i32), доступне тут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println!("Знайдено: {}", 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println!("Значення відсутнє");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match як вираз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doubled = match maybe_number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Some(n) =&gt; n * 2,  // є значення — подвоюємо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0,         // немає — повертаємо 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println!("Результат: {}", doubled);  // 84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Метод .get() — безпечний доступ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.get(index) повертає Option — без паніки при виході за межі: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85203"/>
            <a:ext cx="8229600" cy="269044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20837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[10, 20, 30];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Звичайний доступ — паніка!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x = arr[10];  // 💥 ПАНІКА!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.get() — повертає Option, без паніки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 = arr.get(0);   // Some(&amp;10)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tenth = arr.get(10);  // None — безпечно!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Обробка через match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arr.get(1)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Some(value) =&gt; println!("Знайдено: {}", value),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println!("Індекс поза межами"),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Або через if let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Some(v) = arr.get(2)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println!("Елемент: {}", v);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Корисні методи Option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59"/>
            <a:ext cx="8229600" cy="3151163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79696"/>
            <a:ext cx="804672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x: Option&lt;i32&gt; = Some(42);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y: Option&lt;i32&gt; = None;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Перевірка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x.is_some()            // 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x.is_none()            // false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Отримання значення (ОБЕРЕЖНО!)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x.unwrap()             // 42 — але паніка якщо None!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y.unwrap()             // 💥 ПАНІКА!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Безпечні альтернативи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x.unwrap_or(0)         // 42 (є значення)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y.unwrap_or(0)         // 0  (немає — замовчування)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x.unwrap_or_default()  // 42 (є значення)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y.unwrap_or_default()  // 0  (default для i32 = 0)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expect — як unwrap, але з повідомленням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x.expect("Потрібне число!")  // 42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y.expect("Потрібне число!")  // 💥 паніка з повідомленням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if let — скорочений match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Коли цікавить тільки один варіант: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393192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704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match (повний):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opt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Some(n) =&gt;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println!("{}", 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None =&gt; {}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143000"/>
            <a:ext cx="3931920" cy="13716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117043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08080"/>
                </a:solidFill>
              </a:rPr>
              <a:t>if let (коротко):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Some(n) = opt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n);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додати else: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if let Some(n) = opt {..}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else {..}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if let Some(n) = opt означає: "якщо opt є Some, витягни n"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063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з масивом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[1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2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3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let Some(first) = arr.get(0)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println!("Перший елемент: {}", first);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Кортежі (T1, T2, ...)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Групування значень різних типів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кортеж?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Кортеж (tuple) — групування фіксованої кількості значень РІЗНИХ типів.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Порівняння: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Масив [T; N]: всі N елементів одного типу T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Кортеж (T1, T2, T3): елементи можуть бути різних типів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878038"/>
            <a:ext cx="8229600" cy="16459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8046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Масив — однотипні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arr: [i32; 3] = [1, 2, 3];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Кортеж — різнотипні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tuple: (i32, f64, bool) = (42, 3.14, true);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^^^  ^^^  ^^^^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Приклад: інформація про особу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person: (&amp;str, i32, bool) = ("Олексій", 30, true);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  ім'я  вік  активний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Створення кортежів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52620"/>
            <a:ext cx="8229600" cy="22649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явним типом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point: (f64, f64) = (10.5, 20.3);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 виводиться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rgb = (255, 128, 0);           // (i32, i32, i32)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mixed = (1, "hello", true);    // (i32, &amp;str, bool)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Вкладені кортежі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nested = ((1, 2), (3, 4));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⚠️ Одноелементний — ПОТРІБНА КОМА!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single = (42,);   // (i32) — кортеж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number = (42);    // i32   — просто число!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Unit — порожній кортеж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unit: () = ();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087860"/>
            <a:ext cx="8229600" cy="45720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1089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4D4D4"/>
                </a:solidFill>
              </a:rPr>
              <a:t>⚠️ (42) — число,  (42,) — кортеж з одного елемента!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Доступ до елементів кортежу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Два способи: через крапку .0, .1 або деструктуризація: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person = ("Олексій", 30, true);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Спосіб 1: через КРАПКУ (не дужки!)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name = person.0;      // "Олексій"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age = person.1;       //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active = person.2;    // true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Спосіб 2: деструктуризація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(name, age, active) = person;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 має {} років", name, age);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Часткова деструктуризація — _ ігнорує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(name, _, _) = person;  // тільки ім'я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(_, age, _) = person;   // тільки вік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(name, ..) = person;    // .. ігнорує решту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Деструктуризація детально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Деструктуризація — розпаковка структури в окремі змінні: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2999"/>
            <a:ext cx="8229600" cy="276078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36430"/>
            <a:ext cx="804672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point = (10.5, 20.3, 5.0);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Повна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(x, y, z) = point;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Часткова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(x, ..) = point;   // тільки перший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(.., z) = point;   // тільки останній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циклі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points = [(1, 2), (3, 4), (5, 6)];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(x, y) in points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println!("({}, {})", x, y);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У параметрах функції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distance((x1, y1): (f64, f64), (x2, y2): (f64, f64)) -&gt; f64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((x2-x1).powi(2) + (y2-y1).powi(2)).sqrt()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Повернення кількох значень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Кортеж дозволяє повертати кілька значень з функції: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Функція повертає мінімум і максимум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min_max(numbers: &amp;[i32]) -&gt; (i32, i32)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min = numbers[0];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max = numbers[0];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&amp;n in numbers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 &lt; min { min = n;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n &gt; max { max = n;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(min, max)  // повертаємо кортеж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arr = [3, 1, 4, 1, 5, 9, 2, 6];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(min, max) = min_max(&amp;arr);  // деструктуризація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println!("Мін: {}, Макс: {}", min, max);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Посилання &amp;T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Доступ до даних без передачі володіння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посилання?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Посилання (reference) — адреса в пам'яті, де знаходяться дані.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На відміну від вказівників у Сі, посилання в Rust завжди валідні.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&amp; — створює посилання (borrowing, запозичення)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* — розіменування (доступ до даних)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856936"/>
            <a:ext cx="8229600" cy="15544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ref_x = &amp;x;     // ref_x — посилання на x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println!("x = {}", x);           // 5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println!("ref_x = {}", ref_x);   // 5 (авто-розіменування)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println!("*ref_x = {}", *ref_x); // 5 (явне розіменування)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Посилання НЕ копіює дані!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ref_x "дивиться" на ту саму пам'ять що й x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Навіщо потрібні посилання?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Передача великих даних без копіювання: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2999"/>
            <a:ext cx="8229600" cy="228600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42764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посилання — копіювання (повільно для великих даних!)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print_copy(arr: [i32; 1000])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arr);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посиланням — передаємо тільки адресу (швидко!)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print_ref(arr: &amp;[i32; 1000])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arr);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big = [0; 1000];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print_copy(big);  // копіює 4000 байт!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print_ref(&amp;big);     // передає 8 байт (адреса)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3400865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3488087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&amp; перед змінною — створює посилання,  &amp; в типі — очікує посилання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&amp;T vs &amp;mut 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393192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C9B0"/>
                </a:solidFill>
              </a:rPr>
              <a:t>&amp;T — тільки читання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&amp;x;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r);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*r = 10; // ❌ не можна!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багато &amp;T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r1 = &amp;x;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r2 = &amp;x;  // OK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754880" y="822960"/>
            <a:ext cx="393192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0" y="868680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CDCAA"/>
                </a:solidFill>
              </a:rPr>
              <a:t>&amp;mut T — читання і запис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mut x = 5;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 = &amp;mut 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*r = 10; 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println!("{}", x); // 10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Тільки ОДНЕ &amp;mut T!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let r2 = &amp;mut x; // ❌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Правило: багато &amp;T АБО один &amp;mut T — ніколи разом!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Слайси &amp;[T]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"Вікно" в послідовність даних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слайс?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187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Слайс (slice) — посилання на неперервну частину послідовності.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Характеристики: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НЕ володіє даними — тільки "дивиться"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Розмір НЕ частина типу (на відміну від масиву)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&amp;[T] може посилатись на частину [T; N] будь-якого N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[i32; 5]  — масив, розмір відомий компілятору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&amp;[i32]    — слайс, розмір відомий тільки runtime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3263704"/>
            <a:ext cx="8229600" cy="1695157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3309425"/>
            <a:ext cx="8046720" cy="16494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= [1, 2, 3, 4, 5];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slice = &amp;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[1..4];  // 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слайс: [2, 3, 4]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 ^    ^^^^^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 |   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діапазон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індексів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(1, 2, 3)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посилання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!("{:?}", slice);  // [2, 3, 4]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Fat Pointer — як влаштований слайс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Слайс — "fat pointer" (товстий вказівник), містить ДВА значення: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1. Вказівник на перший елемент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2. Довжина (кількість елементів)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1280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┌───┬───┬───┬───┬───┐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arr: [i32; 5]             │ 1 │ 2 │ 3 │ 4 │ 5 │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└───┴───┴───┴───┴───┘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↑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slice: &amp;[i32] = &amp;arr[1..4]     ptr──┘  len: 3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Слайс "бачить": [2, 3, 4]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2926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</a:rPr>
              <a:t>Розмір &amp;[T]: 16 байт (8 ptr + 8 len) на 64-біт системі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246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9B0"/>
                </a:solidFill>
              </a:rPr>
              <a:t>Завдяки len слайс знає свою довжину — .len() працює!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Синтаксис діапазонів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1031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arr = [0, 1, 2, 3, 4, 5, 6, 7, 8, 9];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    0  1  2  3  4  5  6  7  8  9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&amp;arr[2..5]    // [2, 3, 4]       — від 2 до 5 (НЕ включно)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&amp;arr[2..=5]   // [2, 3, 4, 5]    — від 2 до 5 (включно)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&amp;arr[..5]     // [0, 1, 2, 3, 4] — від початку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&amp;arr[5..]     // [5, 6, 7, 8, 9] — до кінця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&amp;arr[..]      // весь масив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first = &amp;arr[..3];   // [0, 1, 2]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last = &amp;arr[7..];    // [7, 8, 9]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mid = &amp;arr[3..7];    // [3, 4, 5, 6]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090672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start..end — НЕ включає end,  start..=end — включає end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Слайси як параметри функцій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Функція з &amp;[T] працює з масивами будь-якого розміру: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sum(numbers: &amp;[i32]) -&gt; i32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total = 0;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&amp;n in numbers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total += 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arr3 = [1, 2, 3];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arr5 = [10, 20, 30, 40, 50];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sum(&amp;arr3));       // 6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sum(&amp;arr5));       // 150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sum(&amp;arr5[1..4])); // 90 (20+30+40)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Мутабельні слайси &amp;mut [T]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2919046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double_all(numbers: &amp;mut [i32])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n in numbers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*n *= 2;  // n: &amp;mut i32, *n — розіменування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arr = [1, 2, 3, 4, 5];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println!("До:    {:?}", arr);  // [1, 2, 3, 4, 5]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double_all(&amp;mut arr);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println!("Після: {:?}", arr);  // [2, 4, 6, 8, 10]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Частина масиву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arr2 = [1, 2, 3, 4, 5];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double_all(&amp;mut arr2[1..4]);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println!("{:?}", arr2);  // [1, 4, 6, 8, 5]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Рядкові слайси &amp;str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&amp;str — слайс байтів UTF-8 тексту: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143000"/>
            <a:ext cx="8229600" cy="11887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s = String::from("Hello, Rust!");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hello: &amp;str = &amp;s[0..5];   // "Hello"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rust: &amp;str = &amp;s[7..11];   // "Rust"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Рядковий літерал — це теж &amp;str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greeting: &amp;str = "Hello";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2423160"/>
            <a:ext cx="8229600" cy="128016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6888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4747"/>
                </a:solidFill>
              </a:rPr>
              <a:t>⚠️ УВАГА: індекси — це БАЙТИ, не символи!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8046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Кирилиця займає 2 байти на символ: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"Привіт"[0..1] — 💥 ПАНІКА! (розріже 'П' навпіл)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"Привіт"[0..2] — OK, поверне "П"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"Привіт"[0..12] — OK, весь рядок (6 символів × 2 байти)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Структури struct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Власні типи даних з іменованими полями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Що таке структура?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Структура (struct) — користувацький тип з іменованими полями.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Переваги над кортежами: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Поля мають імена — код самодокументується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Можна додавати методи через impl</a:t>
            </a:r>
            <a:endParaRPr lang="en-US" sz="11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D4D4D4"/>
                </a:solidFill>
              </a:rPr>
              <a:t>• Можна </a:t>
            </a:r>
            <a:r>
              <a:rPr lang="en-US" sz="1100" dirty="0" err="1">
                <a:solidFill>
                  <a:srgbClr val="D4D4D4"/>
                </a:solidFill>
              </a:rPr>
              <a:t>реалізовувати</a:t>
            </a:r>
            <a:r>
              <a:rPr lang="en-US" sz="1100" dirty="0">
                <a:solidFill>
                  <a:srgbClr val="D4D4D4"/>
                </a:solidFill>
              </a:rPr>
              <a:t> traits</a:t>
            </a:r>
            <a:r>
              <a:rPr lang="uk-UA" sz="1100" dirty="0">
                <a:solidFill>
                  <a:srgbClr val="D4D4D4"/>
                </a:solidFill>
              </a:rPr>
              <a:t> (схоже на </a:t>
            </a:r>
            <a:r>
              <a:rPr lang="en-US" sz="1100" dirty="0">
                <a:solidFill>
                  <a:srgbClr val="D4D4D4"/>
                </a:solidFill>
              </a:rPr>
              <a:t>interface)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2074986"/>
            <a:ext cx="8229600" cy="146304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05740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Кортеж — незрозуміло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drone: (f64, f64, f64, u8, bool) = (0.0, 0.0, 0.0, 100, true);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Що таке drone.3?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— зрозуміло!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 y: f64, z: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is_active: bool,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Оголошення структури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59"/>
            <a:ext cx="8229600" cy="235352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42416"/>
            <a:ext cx="80467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Структура оголошується ПОЗА функціями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Person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name: String,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age: u8,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is_student: bool,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Rectangle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width: u32,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height: u32,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249637"/>
            <a:ext cx="8229600" cy="3657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3322789"/>
            <a:ext cx="80467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Конвенція: назва — PascalCase, поля — snake_case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Створення екземпляра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2860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 x: f64, y: f64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ВСІ поля обов'язкові!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origin = Point { x: 0.0, y: 0.0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Порядок не важливий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 = Point { y: 20.5, x: 10.0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Доступ через крапку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println!("x={}, y={}", p.x, p.y);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Зміна (потрібен mut!)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p2 = Point { x: 1.0, y: 2.0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p2.x = 5.0;  // OK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Скорочений синтаксис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87790"/>
            <a:ext cx="8229600" cy="435571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93298"/>
            <a:ext cx="8046720" cy="40444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 x: f64, y: f64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Якщо ім'я змінної = ім'я поля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create(x: f64, y: f64) -&gt; Point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Point { x, y }  // замість Point { x: x, y: y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uk-UA" sz="900" dirty="0">
              <a:solidFill>
                <a:schemeClr val="bg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uk-UA" sz="900" dirty="0">
                <a:solidFill>
                  <a:schemeClr val="bg1"/>
                </a:solidFill>
              </a:rPr>
              <a:t>ПОЯСНЕННЯ:  Коли ім'я змінної збігається з ім'ям поля, можна писати коротше:</a:t>
            </a:r>
          </a:p>
          <a:p>
            <a:pPr marL="0" indent="0">
              <a:buNone/>
            </a:pPr>
            <a:r>
              <a:rPr lang="uk-UA" sz="900" dirty="0">
                <a:solidFill>
                  <a:schemeClr val="bg1"/>
                </a:solidFill>
              </a:rPr>
              <a:t>// Повний запис: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Point { x: x, y: y }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   </a:t>
            </a:r>
            <a:r>
              <a:rPr lang="ru-RU" sz="900" dirty="0">
                <a:solidFill>
                  <a:schemeClr val="bg1"/>
                </a:solidFill>
              </a:rPr>
              <a:t>   </a:t>
            </a:r>
            <a:r>
              <a:rPr lang="en-US" sz="900" dirty="0">
                <a:solidFill>
                  <a:schemeClr val="bg1"/>
                </a:solidFill>
              </a:rPr>
              <a:t>  ^  ^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  </a:t>
            </a:r>
            <a:r>
              <a:rPr lang="ru-RU" sz="900" dirty="0">
                <a:solidFill>
                  <a:schemeClr val="bg1"/>
                </a:solidFill>
              </a:rPr>
              <a:t>   </a:t>
            </a:r>
            <a:r>
              <a:rPr lang="en-US" sz="900" dirty="0">
                <a:solidFill>
                  <a:schemeClr val="bg1"/>
                </a:solidFill>
              </a:rPr>
              <a:t>   |  | </a:t>
            </a:r>
            <a:r>
              <a:rPr lang="uk-UA" sz="900" dirty="0">
                <a:solidFill>
                  <a:schemeClr val="bg1"/>
                </a:solidFill>
              </a:rPr>
              <a:t>значення (змінна </a:t>
            </a:r>
            <a:r>
              <a:rPr lang="en-US" sz="900" dirty="0">
                <a:solidFill>
                  <a:schemeClr val="bg1"/>
                </a:solidFill>
              </a:rPr>
              <a:t>x)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  </a:t>
            </a:r>
            <a:r>
              <a:rPr lang="ru-RU" sz="900" dirty="0">
                <a:solidFill>
                  <a:schemeClr val="bg1"/>
                </a:solidFill>
              </a:rPr>
              <a:t>   </a:t>
            </a:r>
            <a:r>
              <a:rPr lang="en-US" sz="900" dirty="0">
                <a:solidFill>
                  <a:schemeClr val="bg1"/>
                </a:solidFill>
              </a:rPr>
              <a:t>   </a:t>
            </a:r>
            <a:r>
              <a:rPr lang="uk-UA" sz="900" dirty="0">
                <a:solidFill>
                  <a:schemeClr val="bg1"/>
                </a:solidFill>
              </a:rPr>
              <a:t>поле структури</a:t>
            </a:r>
          </a:p>
          <a:p>
            <a:pPr marL="0" indent="0">
              <a:buNone/>
            </a:pP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uk-UA" sz="900" dirty="0">
                <a:solidFill>
                  <a:schemeClr val="bg1"/>
                </a:solidFill>
              </a:rPr>
              <a:t>// Скорочений запис: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Point { x, y }</a:t>
            </a:r>
          </a:p>
          <a:p>
            <a:pPr marL="0" indent="0">
              <a:buNone/>
            </a:pPr>
            <a:r>
              <a:rPr lang="en-US" sz="900" dirty="0">
                <a:solidFill>
                  <a:schemeClr val="bg1"/>
                </a:solidFill>
              </a:rPr>
              <a:t>// Rust </a:t>
            </a:r>
            <a:r>
              <a:rPr lang="uk-UA" sz="900" dirty="0">
                <a:solidFill>
                  <a:schemeClr val="bg1"/>
                </a:solidFill>
              </a:rPr>
              <a:t>розуміє: </a:t>
            </a:r>
            <a:r>
              <a:rPr lang="en-US" sz="900" dirty="0">
                <a:solidFill>
                  <a:schemeClr val="bg1"/>
                </a:solidFill>
              </a:rPr>
              <a:t>x </a:t>
            </a:r>
            <a:r>
              <a:rPr lang="uk-UA" sz="900" dirty="0">
                <a:solidFill>
                  <a:schemeClr val="bg1"/>
                </a:solidFill>
              </a:rPr>
              <a:t>означає </a:t>
            </a:r>
            <a:r>
              <a:rPr lang="en-US" sz="900" dirty="0">
                <a:solidFill>
                  <a:schemeClr val="bg1"/>
                </a:solidFill>
              </a:rPr>
              <a:t>x: x</a:t>
            </a:r>
            <a:endParaRPr lang="uk-UA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9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Копіювання полів з іншої структури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p1 = Point { x: 1.0, y: 2.0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Нова структура, але змінюємо тільки x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p2 = Point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x: 5.0,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..p1  // решта з p1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println!("({}, {})", p2.x, p2.y);  // (5, 2)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Атрибут #[derive()]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#[derive(...)] — автоматично реалізує стандартні traits: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2760784"/>
            <a:ext cx="8229600" cy="21945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87162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Без derive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 { x: f64, y: f64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 = Point { x: 1.0, y: 2.0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println!("{:?}", p);  // ❌ ПОМИЛКА!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З derive(Debug)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буде автоматично реалізований </a:t>
            </a:r>
            <a:r>
              <a:rPr lang="uk-UA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трейт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</a:t>
            </a:r>
            <a:r>
              <a:rPr lang="uk-UA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 можна друкувати всю структуру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Point2 { x: f64, y: f64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let p2 = Point2 { x: 1.0, y: 2.0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println!("{:?}", p2);   // Point2 { x: 1.0, y: 2.0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println!("{:#?}", p2);  // красивий формат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Можна комбінувати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#[derive(Debug, Clone, Copy, PartialEq)]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Point3 { x: f64, y: f64 }</a:t>
            </a:r>
            <a:endParaRPr lang="en-US" sz="9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4AA2A232-EEE6-4AD8-B547-6E86700C348B}"/>
              </a:ext>
            </a:extLst>
          </p:cNvPr>
          <p:cNvSpPr/>
          <p:nvPr/>
        </p:nvSpPr>
        <p:spPr>
          <a:xfrm>
            <a:off x="457200" y="1097280"/>
            <a:ext cx="8229600" cy="1640415"/>
          </a:xfrm>
          <a:prstGeom prst="rect">
            <a:avLst/>
          </a:prstGeom>
          <a:solidFill>
            <a:srgbClr val="0D3B2E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A6F2B4-6BB5-4DAC-BCF2-F1FC191FC343}"/>
              </a:ext>
            </a:extLst>
          </p:cNvPr>
          <p:cNvSpPr/>
          <p:nvPr/>
        </p:nvSpPr>
        <p:spPr>
          <a:xfrm>
            <a:off x="457200" y="1123658"/>
            <a:ext cx="8046720" cy="157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Розглянемо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приклад :? —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специфікатор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формату,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який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вказує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Rust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використовувати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трейт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замість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Display.</a:t>
            </a:r>
          </a:p>
          <a:p>
            <a:pPr marL="0" indent="0">
              <a:buNone/>
            </a:pPr>
            <a:endParaRPr lang="en-US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Різниця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Синтаксис	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Трейт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Призначення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{}	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	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користувача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гарний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вивід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{:?}	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Debug	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Для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програміста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налагодження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Методи: impl блок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4688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Rectangle { width: u32, height: u32 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Rectangle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Метод — перший параметр &amp;self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area(&amp;self) -&gt; u32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self.width * self.height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perimeter(&amp;self) -&gt; u32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2 * (self.width + self.height)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rect = Rectangle { width: 10, height: 5 };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println!("Площа: {}", rect.area());       // 50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println!("Периметр: {}", rect.perimeter()); // 30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Типи self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14865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Rectangle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&amp;self — тільки читання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area(&amp;self) -&gt; u32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self.width * self.height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&amp;mut self — може змінювати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double(&amp;mut self)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self.width *= 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self.height *= 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self — забирає ownership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into_square(self) -&gt; Rectangle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side = (self.width + self.height) / 2;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Rectangle { width: side, height: side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601329"/>
            <a:ext cx="8229600" cy="1399736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74480"/>
            <a:ext cx="8046720" cy="1194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&amp;self — читає,  &amp;mut self — змінює,  self — </a:t>
            </a:r>
            <a:r>
              <a:rPr lang="en-US" sz="1000" dirty="0" err="1">
                <a:solidFill>
                  <a:srgbClr val="D4D4D4"/>
                </a:solidFill>
              </a:rPr>
              <a:t>забирає</a:t>
            </a:r>
            <a:r>
              <a:rPr lang="uk-UA" sz="1000" dirty="0">
                <a:solidFill>
                  <a:srgbClr val="D4D4D4"/>
                </a:solidFill>
              </a:rPr>
              <a:t>:</a:t>
            </a:r>
          </a:p>
          <a:p>
            <a:pPr marL="0" indent="0">
              <a:buNone/>
            </a:pPr>
            <a:endParaRPr lang="uk-UA" sz="1000" dirty="0">
              <a:solidFill>
                <a:srgbClr val="D4D4D4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&amp;self      </a:t>
            </a:r>
            <a:r>
              <a:rPr lang="uk-UA" sz="1000" dirty="0">
                <a:solidFill>
                  <a:schemeClr val="bg1"/>
                </a:solidFill>
              </a:rPr>
              <a:t>    </a:t>
            </a:r>
            <a:r>
              <a:rPr lang="en-US" sz="1000" dirty="0">
                <a:solidFill>
                  <a:schemeClr val="bg1"/>
                </a:solidFill>
              </a:rPr>
              <a:t>→  [ Item ]  →  </a:t>
            </a:r>
            <a:r>
              <a:rPr lang="ru-RU" sz="1000" dirty="0">
                <a:solidFill>
                  <a:schemeClr val="bg1"/>
                </a:solidFill>
              </a:rPr>
              <a:t>метод </a:t>
            </a:r>
            <a:r>
              <a:rPr lang="ru-RU" sz="1000" dirty="0" err="1">
                <a:solidFill>
                  <a:schemeClr val="bg1"/>
                </a:solidFill>
              </a:rPr>
              <a:t>читає</a:t>
            </a:r>
            <a:r>
              <a:rPr lang="ru-RU" sz="1000" dirty="0">
                <a:solidFill>
                  <a:schemeClr val="bg1"/>
                </a:solidFill>
              </a:rPr>
              <a:t>       →  [ </a:t>
            </a:r>
            <a:r>
              <a:rPr lang="en-US" sz="1000" dirty="0">
                <a:solidFill>
                  <a:schemeClr val="bg1"/>
                </a:solidFill>
              </a:rPr>
              <a:t>Item ] (</a:t>
            </a:r>
            <a:r>
              <a:rPr lang="ru-RU" sz="1000" dirty="0" err="1">
                <a:solidFill>
                  <a:schemeClr val="bg1"/>
                </a:solidFill>
              </a:rPr>
              <a:t>залишається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&amp;</a:t>
            </a:r>
            <a:r>
              <a:rPr lang="en-US" sz="1000" dirty="0">
                <a:solidFill>
                  <a:schemeClr val="bg1"/>
                </a:solidFill>
              </a:rPr>
              <a:t>mut self  →  [ Item ]  →  </a:t>
            </a:r>
            <a:r>
              <a:rPr lang="ru-RU" sz="1000" dirty="0">
                <a:solidFill>
                  <a:schemeClr val="bg1"/>
                </a:solidFill>
              </a:rPr>
              <a:t>метод </a:t>
            </a:r>
            <a:r>
              <a:rPr lang="ru-RU" sz="1000" dirty="0" err="1">
                <a:solidFill>
                  <a:schemeClr val="bg1"/>
                </a:solidFill>
              </a:rPr>
              <a:t>змінює</a:t>
            </a:r>
            <a:r>
              <a:rPr lang="ru-RU" sz="1000" dirty="0">
                <a:solidFill>
                  <a:schemeClr val="bg1"/>
                </a:solidFill>
              </a:rPr>
              <a:t>   →  [ </a:t>
            </a:r>
            <a:r>
              <a:rPr lang="en-US" sz="1000" dirty="0">
                <a:solidFill>
                  <a:schemeClr val="bg1"/>
                </a:solidFill>
              </a:rPr>
              <a:t>Item ] (</a:t>
            </a:r>
            <a:r>
              <a:rPr lang="ru-RU" sz="1000" dirty="0" err="1">
                <a:solidFill>
                  <a:schemeClr val="bg1"/>
                </a:solidFill>
              </a:rPr>
              <a:t>залишається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self      </a:t>
            </a:r>
            <a:r>
              <a:rPr lang="uk-UA" sz="1000" dirty="0">
                <a:solidFill>
                  <a:schemeClr val="bg1"/>
                </a:solidFill>
              </a:rPr>
              <a:t>      </a:t>
            </a:r>
            <a:r>
              <a:rPr lang="en-US" sz="1000" dirty="0">
                <a:solidFill>
                  <a:schemeClr val="bg1"/>
                </a:solidFill>
              </a:rPr>
              <a:t> →  [ Item ]  →  </a:t>
            </a:r>
            <a:r>
              <a:rPr lang="ru-RU" sz="1000" dirty="0">
                <a:solidFill>
                  <a:schemeClr val="bg1"/>
                </a:solidFill>
              </a:rPr>
              <a:t>метод </a:t>
            </a:r>
            <a:r>
              <a:rPr lang="ru-RU" sz="1000" dirty="0" err="1">
                <a:solidFill>
                  <a:schemeClr val="bg1"/>
                </a:solidFill>
              </a:rPr>
              <a:t>забирає</a:t>
            </a:r>
            <a:r>
              <a:rPr lang="ru-RU" sz="1000" dirty="0">
                <a:solidFill>
                  <a:schemeClr val="bg1"/>
                </a:solidFill>
              </a:rPr>
              <a:t>  → [      ] (</a:t>
            </a:r>
            <a:r>
              <a:rPr lang="ru-RU" sz="1000" dirty="0" err="1">
                <a:solidFill>
                  <a:schemeClr val="bg1"/>
                </a:solidFill>
              </a:rPr>
              <a:t>знищено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Типи self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14865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Data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value: i32,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endParaRPr lang="en-US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destroy(self) {  // self 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без &amp;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!("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Значення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{}",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self.value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// 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тут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знищується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 = Data { value: 42 };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d.destroy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// ownership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перейшло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в метод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d.value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   // 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ПОМИЛКА: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borrow of moved value: `d`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              d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більше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не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існує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3601329"/>
            <a:ext cx="8229600" cy="1399736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3674480"/>
            <a:ext cx="8046720" cy="11946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&amp;self — читає,  &amp;mut self — змінює,  self — </a:t>
            </a:r>
            <a:r>
              <a:rPr lang="en-US" sz="1000" dirty="0" err="1">
                <a:solidFill>
                  <a:srgbClr val="D4D4D4"/>
                </a:solidFill>
              </a:rPr>
              <a:t>забирає</a:t>
            </a:r>
            <a:r>
              <a:rPr lang="uk-UA" sz="1000" dirty="0">
                <a:solidFill>
                  <a:srgbClr val="D4D4D4"/>
                </a:solidFill>
              </a:rPr>
              <a:t>:</a:t>
            </a:r>
          </a:p>
          <a:p>
            <a:pPr marL="0" indent="0">
              <a:buNone/>
            </a:pPr>
            <a:endParaRPr lang="uk-UA" sz="1000" dirty="0">
              <a:solidFill>
                <a:srgbClr val="D4D4D4"/>
              </a:solidFill>
            </a:endParaRP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&amp;self      </a:t>
            </a:r>
            <a:r>
              <a:rPr lang="uk-UA" sz="1000" dirty="0">
                <a:solidFill>
                  <a:schemeClr val="bg1"/>
                </a:solidFill>
              </a:rPr>
              <a:t>    </a:t>
            </a:r>
            <a:r>
              <a:rPr lang="en-US" sz="1000" dirty="0">
                <a:solidFill>
                  <a:schemeClr val="bg1"/>
                </a:solidFill>
              </a:rPr>
              <a:t>→  [ Item ]  →  </a:t>
            </a:r>
            <a:r>
              <a:rPr lang="ru-RU" sz="1000" dirty="0">
                <a:solidFill>
                  <a:schemeClr val="bg1"/>
                </a:solidFill>
              </a:rPr>
              <a:t>метод </a:t>
            </a:r>
            <a:r>
              <a:rPr lang="ru-RU" sz="1000" dirty="0" err="1">
                <a:solidFill>
                  <a:schemeClr val="bg1"/>
                </a:solidFill>
              </a:rPr>
              <a:t>читає</a:t>
            </a:r>
            <a:r>
              <a:rPr lang="ru-RU" sz="1000" dirty="0">
                <a:solidFill>
                  <a:schemeClr val="bg1"/>
                </a:solidFill>
              </a:rPr>
              <a:t>       →  [ </a:t>
            </a:r>
            <a:r>
              <a:rPr lang="en-US" sz="1000" dirty="0">
                <a:solidFill>
                  <a:schemeClr val="bg1"/>
                </a:solidFill>
              </a:rPr>
              <a:t>Item ] (</a:t>
            </a:r>
            <a:r>
              <a:rPr lang="ru-RU" sz="1000" dirty="0" err="1">
                <a:solidFill>
                  <a:schemeClr val="bg1"/>
                </a:solidFill>
              </a:rPr>
              <a:t>залишається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ru-RU" sz="1000" dirty="0">
                <a:solidFill>
                  <a:schemeClr val="bg1"/>
                </a:solidFill>
              </a:rPr>
              <a:t>&amp;</a:t>
            </a:r>
            <a:r>
              <a:rPr lang="en-US" sz="1000" dirty="0">
                <a:solidFill>
                  <a:schemeClr val="bg1"/>
                </a:solidFill>
              </a:rPr>
              <a:t>mut self  →  [ Item ]  →  </a:t>
            </a:r>
            <a:r>
              <a:rPr lang="ru-RU" sz="1000" dirty="0">
                <a:solidFill>
                  <a:schemeClr val="bg1"/>
                </a:solidFill>
              </a:rPr>
              <a:t>метод </a:t>
            </a:r>
            <a:r>
              <a:rPr lang="ru-RU" sz="1000" dirty="0" err="1">
                <a:solidFill>
                  <a:schemeClr val="bg1"/>
                </a:solidFill>
              </a:rPr>
              <a:t>змінює</a:t>
            </a:r>
            <a:r>
              <a:rPr lang="ru-RU" sz="1000" dirty="0">
                <a:solidFill>
                  <a:schemeClr val="bg1"/>
                </a:solidFill>
              </a:rPr>
              <a:t>   →  [ </a:t>
            </a:r>
            <a:r>
              <a:rPr lang="en-US" sz="1000" dirty="0">
                <a:solidFill>
                  <a:schemeClr val="bg1"/>
                </a:solidFill>
              </a:rPr>
              <a:t>Item ] (</a:t>
            </a:r>
            <a:r>
              <a:rPr lang="ru-RU" sz="1000" dirty="0" err="1">
                <a:solidFill>
                  <a:schemeClr val="bg1"/>
                </a:solidFill>
              </a:rPr>
              <a:t>залишається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1000" dirty="0">
                <a:solidFill>
                  <a:schemeClr val="bg1"/>
                </a:solidFill>
              </a:rPr>
              <a:t>self      </a:t>
            </a:r>
            <a:r>
              <a:rPr lang="uk-UA" sz="1000" dirty="0">
                <a:solidFill>
                  <a:schemeClr val="bg1"/>
                </a:solidFill>
              </a:rPr>
              <a:t>      </a:t>
            </a:r>
            <a:r>
              <a:rPr lang="en-US" sz="1000" dirty="0">
                <a:solidFill>
                  <a:schemeClr val="bg1"/>
                </a:solidFill>
              </a:rPr>
              <a:t> →  [ Item ]  →  </a:t>
            </a:r>
            <a:r>
              <a:rPr lang="ru-RU" sz="1000" dirty="0">
                <a:solidFill>
                  <a:schemeClr val="bg1"/>
                </a:solidFill>
              </a:rPr>
              <a:t>метод </a:t>
            </a:r>
            <a:r>
              <a:rPr lang="ru-RU" sz="1000" dirty="0" err="1">
                <a:solidFill>
                  <a:schemeClr val="bg1"/>
                </a:solidFill>
              </a:rPr>
              <a:t>забирає</a:t>
            </a:r>
            <a:r>
              <a:rPr lang="ru-RU" sz="1000" dirty="0">
                <a:solidFill>
                  <a:schemeClr val="bg1"/>
                </a:solidFill>
              </a:rPr>
              <a:t>  → [      ] (</a:t>
            </a:r>
            <a:r>
              <a:rPr lang="ru-RU" sz="1000" dirty="0" err="1">
                <a:solidFill>
                  <a:schemeClr val="bg1"/>
                </a:solidFill>
              </a:rPr>
              <a:t>знищено</a:t>
            </a:r>
            <a:r>
              <a:rPr lang="ru-RU" sz="1000" dirty="0">
                <a:solidFill>
                  <a:schemeClr val="bg1"/>
                </a:solidFill>
              </a:rPr>
              <a:t>)</a:t>
            </a:r>
            <a:endParaRPr 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431148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Типи self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59"/>
            <a:ext cx="8229600" cy="3052689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14865"/>
            <a:ext cx="8046720" cy="25919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read(&amp;self)      { }  //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позичає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живе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далі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modify(&amp;mut self){ }  //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позичає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мутабельно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живе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далі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take(self)       { }  //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забирає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знищено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після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виклику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Виняток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якщо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метод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повертає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self:</a:t>
            </a:r>
          </a:p>
          <a:p>
            <a:pPr marL="0" indent="0">
              <a:buNone/>
            </a:pPr>
            <a:endParaRPr lang="en-US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en-US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Data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transform(self) -&gt; Self {  //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забирає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{ value: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self.value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2 }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 // ...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але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повертає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новий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main() {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 = Data { value: 10 };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d2 =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d.transform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();  // d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знищено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але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d2 =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println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!("{}", d2.value);  // 20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74475722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Асоційовані функції (конструктори)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229600" cy="2841674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70073"/>
            <a:ext cx="8046720" cy="24055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Асоційовані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функції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функції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які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належать до типу (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структури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), але не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працюють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з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конкретним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екземпляром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Головна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відмінність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 —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потребує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існуючий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об'єкт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щоб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з ним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щось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робити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(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читати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змінювати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</a:p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Асоційована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функція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— не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потребує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об'єкта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часто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використовується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щоб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створити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новий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об'єкт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Синтаксис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виклику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Метод: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об'єкт.назва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— через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крапку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Асоційована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функція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Тип::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назва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— через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подвійну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двокрапку</a:t>
            </a: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Аналогія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</a:p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Уяви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"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Автомобіль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":</a:t>
            </a:r>
          </a:p>
          <a:p>
            <a:pPr marL="0" indent="0">
              <a:buNone/>
            </a:pPr>
            <a:endParaRPr lang="ru-RU" sz="900" dirty="0">
              <a:solidFill>
                <a:srgbClr val="D4D4D4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 завести() —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потрібен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конкретний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автомобіль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щоб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його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завести.</a:t>
            </a:r>
          </a:p>
          <a:p>
            <a:pPr marL="0" indent="0">
              <a:buNone/>
            </a:pP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Асоційована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функція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створити_новий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() —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створює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автомобіль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коли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його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ще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немає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</a:p>
          <a:p>
            <a:pPr marL="0" indent="0">
              <a:buNone/>
            </a:pP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інших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мовах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це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називається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метод —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він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належить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класу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а не </a:t>
            </a:r>
            <a:r>
              <a:rPr lang="ru-RU" sz="900" dirty="0" err="1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об'єкту</a:t>
            </a:r>
            <a:r>
              <a:rPr lang="ru-RU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Асоційовані функції (конструктори)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Функції в impl БЕЗ self — викликаються через Type::func():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229600" cy="2841674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Rectangle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Конструктор — немає self!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new(width: u32, height: u32) -&gt; Rectangle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Rectangle { width, height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square(size: u32) -&gt; Rectangle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Rectangle { width: size, height: size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Виклик через :: (не крапку!)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rect = Rectangle::new(10, 5);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sq = Rectangle::square(7);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rect.area());  // 50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println!("{}", sq.area());    // 49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23672680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Tuple structs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4D4D4"/>
                </a:solidFill>
              </a:rPr>
              <a:t>Структури без іменованих полів: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57200" y="1097279"/>
            <a:ext cx="8229600" cy="2890911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96218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Color(u8, u8, u8);        // RGB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Point3D(f64, f64, f64);   // x, y, z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red = Color(255, 0, 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origin = Point3D(0.0, 0.0, 0.0);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Доступ через індекс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println!("R={}", red.0);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Деструктуризація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Color(r, g, b) = red;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Newtype pattern — різні типи з однаковим вмістом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Meters(f64);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Seconds(f64);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Meters і Seconds — РІЗНІ типи!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808080"/>
                </a:solidFill>
              </a:rPr>
              <a:t>ЧАСТИНА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CE422B"/>
                </a:solidFill>
              </a:rPr>
              <a:t>Практика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4D4D4"/>
                </a:solidFill>
              </a:rPr>
              <a:t>Моделювання агента БПЛА</a:t>
            </a:r>
            <a:endParaRPr lang="en-US" sz="14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Моделювання дрона: структури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41141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57068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Position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y: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z: f64,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#[derive(Debug)]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u32,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  // вкладена структура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is_active: bool,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Position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new(x: f64, y: f64, z: f64) -&gt; Position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 { x, y, z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origin() -&gt; Position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Position { x: 0.0, y: 0.0, z: 0.0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Моделювання дрона: методи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59"/>
            <a:ext cx="8229600" cy="3538025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9159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new(id: u32) -&gt; Drone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Drone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id,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position: Position::origin(),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battery: 100,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is_active: false,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activate(&amp;mut self)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self.battery &gt; 10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self.is_active = true;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println!("Дрон {} активовано", self.id);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 else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println!("Недостатньо заряду!");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status(&amp;self)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println!("Дрон {}: {}%, active={}",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self.id, self.battery, self.is_active);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Моделювання дрона: переміщення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407898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104314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Drone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move_to(&amp;mut self, x: f64, y: f64, z: f64)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!self.is_active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println!("Дрон не активний!");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dx = x - self.position.x;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dy = y - self.position.y;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dz = z - self.position.z;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dist = (dx*dx + dy*dy + dz*dz).sqrt();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drain = (dist / 10.0) as u8;  // 1% на 10м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drain &gt; self.battery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println!("Недостатньо заряду!");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self.position = Position::new(x, y, z);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self.battery -= drain;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println!("Дрон {} → ({},{},{})", self.id, x, y, z);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Повний приклад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2743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868680"/>
            <a:ext cx="804672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fn main()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mut drone = Drone::new(1);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drone.status();       // Дрон 1: 100%, active=false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drone.activate();     // Дрон 1 активовано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drone.move_to(100.0, 50.0, 30.0);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drone.move_to(150.0, 80.0, 25.0);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drone.status();       // Дрон 1: 85%, active=true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println!("{:#?}", drone);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Drone {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id: 1,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position: Position { x: 150, y: 80, z: 25 },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battery: 85,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    is_active: true,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}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Завдання для самостійної роботи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1. Масив та Option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Напишіть fn find(arr: &amp;[i32], target: i32) -&gt; Option&lt;usize&gt;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що повертає індекс елемента або None.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2. Структура Student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Поля: name, age, grades: [u8; 5].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Методи: new(), average() -&gt; f64, is_excellent() -&gt; bool.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3. Rectangle з contains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Методи: area(), perimeter(), contains(point: &amp;Point) -&gt; bool.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4. Рій дронів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fn find_nearest(drones: &amp;[Drone], x, y, z) -&gt; Option&lt;usize&gt;</a:t>
            </a:r>
            <a:endParaRPr lang="en-US" sz="10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000" dirty="0">
                <a:solidFill>
                  <a:srgbClr val="D4D4D4"/>
                </a:solidFill>
              </a:rPr>
              <a:t>   Повертає індекс найближчого дрона.</a:t>
            </a:r>
            <a:endParaRPr lang="en-US" sz="10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E422B"/>
                </a:solidFill>
              </a:rPr>
              <a:t>Підсумок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777240"/>
            <a:ext cx="45720" cy="41148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804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9B0"/>
                </a:solidFill>
              </a:rPr>
              <a:t>Масиви [T; N]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377440" y="804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Stack, фіксований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252728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52728"/>
            <a:ext cx="45720" cy="41148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280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</a:rPr>
              <a:t>Option&lt;T&gt;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377440" y="1280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Some/None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1728216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1728216"/>
            <a:ext cx="45720" cy="411480"/>
          </a:xfrm>
          <a:prstGeom prst="rect">
            <a:avLst/>
          </a:prstGeom>
          <a:solidFill>
            <a:srgbClr val="DCDCA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DCAA"/>
                </a:solidFill>
              </a:rPr>
              <a:t>match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37744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Pattern matching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203704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2203704"/>
            <a:ext cx="45720" cy="411480"/>
          </a:xfrm>
          <a:prstGeom prst="rect">
            <a:avLst/>
          </a:prstGeom>
          <a:solidFill>
            <a:srgbClr val="C586C0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22311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586C0"/>
                </a:solidFill>
              </a:rPr>
              <a:t>Кортежі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77440" y="22311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Різні типи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777240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0" y="777240"/>
            <a:ext cx="45720" cy="411480"/>
          </a:xfrm>
          <a:prstGeom prst="rect">
            <a:avLst/>
          </a:prstGeom>
          <a:solidFill>
            <a:srgbClr val="6A9955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804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A9955"/>
                </a:solidFill>
              </a:rPr>
              <a:t>Посилання &amp;T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804672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Borrowing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0" y="1252728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4" name="Shape 22"/>
          <p:cNvSpPr/>
          <p:nvPr/>
        </p:nvSpPr>
        <p:spPr>
          <a:xfrm>
            <a:off x="4572000" y="1252728"/>
            <a:ext cx="45720" cy="411480"/>
          </a:xfrm>
          <a:prstGeom prst="rect">
            <a:avLst/>
          </a:prstGeom>
          <a:solidFill>
            <a:srgbClr val="CE422B"/>
          </a:solidFill>
          <a:ln/>
        </p:spPr>
      </p:sp>
      <p:sp>
        <p:nvSpPr>
          <p:cNvPr id="25" name="Text 23"/>
          <p:cNvSpPr/>
          <p:nvPr/>
        </p:nvSpPr>
        <p:spPr>
          <a:xfrm>
            <a:off x="4709160" y="1280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E422B"/>
                </a:solidFill>
              </a:rPr>
              <a:t>Слайси &amp;[T]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492240" y="1280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Fat pointer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572000" y="1728216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28" name="Shape 26"/>
          <p:cNvSpPr/>
          <p:nvPr/>
        </p:nvSpPr>
        <p:spPr>
          <a:xfrm>
            <a:off x="4572000" y="1728216"/>
            <a:ext cx="45720" cy="411480"/>
          </a:xfrm>
          <a:prstGeom prst="rect">
            <a:avLst/>
          </a:prstGeom>
          <a:solidFill>
            <a:srgbClr val="4EC9B0"/>
          </a:solidFill>
          <a:ln/>
        </p:spPr>
      </p:sp>
      <p:sp>
        <p:nvSpPr>
          <p:cNvPr id="29" name="Text 27"/>
          <p:cNvSpPr/>
          <p:nvPr/>
        </p:nvSpPr>
        <p:spPr>
          <a:xfrm>
            <a:off x="470916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EC9B0"/>
                </a:solidFill>
              </a:rPr>
              <a:t>struct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17556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Власні типи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0" y="2203704"/>
            <a:ext cx="3931920" cy="4114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32" name="Shape 30"/>
          <p:cNvSpPr/>
          <p:nvPr/>
        </p:nvSpPr>
        <p:spPr>
          <a:xfrm>
            <a:off x="4572000" y="2203704"/>
            <a:ext cx="45720" cy="411480"/>
          </a:xfrm>
          <a:prstGeom prst="rect">
            <a:avLst/>
          </a:prstGeom>
          <a:solidFill>
            <a:srgbClr val="569CD6"/>
          </a:solidFill>
          <a:ln/>
        </p:spPr>
      </p:sp>
      <p:sp>
        <p:nvSpPr>
          <p:cNvPr id="33" name="Text 31"/>
          <p:cNvSpPr/>
          <p:nvPr/>
        </p:nvSpPr>
        <p:spPr>
          <a:xfrm>
            <a:off x="4709160" y="22311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69CD6"/>
                </a:solidFill>
              </a:rPr>
              <a:t>impl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92240" y="22311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D4D4"/>
                </a:solidFill>
              </a:rPr>
              <a:t>Методи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2743200"/>
            <a:ext cx="8229600" cy="1005840"/>
          </a:xfrm>
          <a:prstGeom prst="rect">
            <a:avLst/>
          </a:prstGeom>
          <a:solidFill>
            <a:srgbClr val="3E2723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2788920"/>
            <a:ext cx="8046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422B"/>
                </a:solidFill>
              </a:rPr>
              <a:t>Наступна лекція: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48640" y="30632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Ownership — унікальна система володіння пам'яттю Rust.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D4D4D4"/>
                </a:solidFill>
              </a:rPr>
              <a:t>Чому String переміщується, а i32 копіюється? Move vs Copy. 🦀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</TotalTime>
  <Words>6907</Words>
  <Application>Microsoft Office PowerPoint</Application>
  <PresentationFormat>Экран (16:9)</PresentationFormat>
  <Paragraphs>1053</Paragraphs>
  <Slides>59</Slides>
  <Notes>59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59</vt:i4>
      </vt:variant>
    </vt:vector>
  </HeadingPairs>
  <TitlesOfParts>
    <vt:vector size="63" baseType="lpstr">
      <vt:lpstr>Arial</vt:lpstr>
      <vt:lpstr>Calibri</vt:lpstr>
      <vt:lpstr>Courier New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Структури даних у Rust</dc:title>
  <dc:subject>PptxGenJS Presentation</dc:subject>
  <dc:creator>PptxGenJS</dc:creator>
  <cp:lastModifiedBy>Алексей</cp:lastModifiedBy>
  <cp:revision>16</cp:revision>
  <dcterms:created xsi:type="dcterms:W3CDTF">2026-01-02T13:55:56Z</dcterms:created>
  <dcterms:modified xsi:type="dcterms:W3CDTF">2026-02-03T10:51:49Z</dcterms:modified>
</cp:coreProperties>
</file>