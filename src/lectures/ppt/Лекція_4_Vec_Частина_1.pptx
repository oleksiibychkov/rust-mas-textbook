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08080"/>
                </a:solidFill>
              </a:rPr>
              <a:t>Лекція 4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E422B"/>
                </a:solidFill>
              </a:rPr>
              <a:t>Колекції: Vec&lt;T&gt;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EC9B0"/>
                </a:solidFill>
              </a:rPr>
              <a:t>Динамічні дані у Rust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08080"/>
                </a:solidFill>
              </a:rPr>
              <a:t>push • pop • iter • slice • capacity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828800" y="2743200"/>
            <a:ext cx="5486400" cy="54864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7" name="Text 5"/>
          <p:cNvSpPr/>
          <p:nvPr/>
        </p:nvSpPr>
        <p:spPr>
          <a:xfrm>
            <a:off x="1920240" y="28346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🤖 Приклади: координати БПЛА, черга команд, рій агентів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474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CDCAA"/>
                </a:solidFill>
              </a:rPr>
              <a:t>Частина 1: Основи та базові операції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2976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080"/>
                </a:solidFill>
              </a:rPr>
              <a:t>О. С. Бичков • 2025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План лекції (Частина 1)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3931920" cy="20116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3749040" cy="1865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1. Навіщо потрібен Vec?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2. Що таке Vec&lt;T&gt;?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3. Stack vs Heap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4. Створення векторів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5. push / pop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6. insert / remove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7. Доступ до елементів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8. len, capacity, is_empty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389120" y="868680"/>
            <a:ext cx="4297680" cy="20116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6" name="Text 4"/>
          <p:cNvSpPr/>
          <p:nvPr/>
        </p:nvSpPr>
        <p:spPr>
          <a:xfrm>
            <a:off x="4480560" y="941832"/>
            <a:ext cx="4114800" cy="1865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9. Реалокація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10. reserve, shrink, clear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11. Ownership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12. 🤖 Рій БПЛА як Vec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13. 🤖 Черга команд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14. 🤖 Маршрут польоту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090672"/>
            <a:ext cx="8046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EC9B0"/>
                </a:solidFill>
              </a:rPr>
              <a:t>Частина 2: Slices, ітерація, функціональний стиль, МАС приклади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Навіщо потрібен Vec?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82296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Проблема: Масиви [T; N] мають фіксований розмір на етапі компіляції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Але в реальних програмах кількість елементів часто невідома заздалегідь!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2651760" cy="100584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2880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🚁 БПЛА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Скільки точок маршруту?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Скільки цілей?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0" y="1783080"/>
            <a:ext cx="2651760" cy="100584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8" name="Text 6"/>
          <p:cNvSpPr/>
          <p:nvPr/>
        </p:nvSpPr>
        <p:spPr>
          <a:xfrm>
            <a:off x="3291840" y="182880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📋 Веб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Скільки користувачів?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Скільки товарів?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943600" y="1783080"/>
            <a:ext cx="2743200" cy="100584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10" name="Text 8"/>
          <p:cNvSpPr/>
          <p:nvPr/>
        </p:nvSpPr>
        <p:spPr>
          <a:xfrm>
            <a:off x="6035040" y="182880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🎮 Гра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Скільки ворогів?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Скільки предметів?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8229600" cy="5029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0175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EC9B0"/>
                </a:solidFill>
              </a:rPr>
              <a:t>Рішення: Vec&lt;T&gt; — вектор, що росте динамічно під час виконання!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Що таке Vec&lt;T&gt;?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3931920" cy="128016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3749040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Vec (vector) — це: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Динамічний масив на heap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Може змінювати розмір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Елементи послідовно в пам'яті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Тип елементів: &lt;T&gt;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457200"/>
            <a:ext cx="8229600" cy="22402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502920"/>
            <a:ext cx="804672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Вектор чисел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nums: Vec&lt;i32&gt; = vec![1, 2, 3];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Вектор рядків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names: Vec&lt;String&gt; = vec![];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480560" y="868680"/>
            <a:ext cx="4206240" cy="237744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0" y="941832"/>
            <a:ext cx="4023360" cy="22311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Структура в пам'яті: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Stack:  [ptr | len: 3 | cap: 4]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           ↓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Heap:   [1] [2] [3] [?]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ptr — вказівник на heap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len — кількість елементів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cap — виділено місця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Stack vs Heap: чому це важливо?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3931920" cy="228600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EC9B0"/>
                </a:solidFill>
              </a:rPr>
              <a:t>Stack (стек)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✓ Дуже швидкий доступ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✓ Автоматичне звільнення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✗ Розмір відомий на компіляції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✗ Обмежений (~1-8 MB)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548640"/>
            <a:ext cx="8229600" cy="214884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594360"/>
            <a:ext cx="804672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На стеку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arr: [i32; 3] = [1, 2, 3];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x: i32 = 42;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0" y="868680"/>
            <a:ext cx="4114800" cy="228600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9144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E422B"/>
                </a:solidFill>
              </a:rPr>
              <a:t>Heap (купа)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128016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✓ Динамічний розмір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✓ Великі обсяги даних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~ Повільніший доступ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~ Потребує управління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4663440"/>
            <a:ext cx="8229600" cy="214884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4709160"/>
            <a:ext cx="804672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На heap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v: Vec&lt;i32&gt; = vec![1, 2, 3];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s = String::from("hi");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246120"/>
            <a:ext cx="8229600" cy="4114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31012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</a:rPr>
              <a:t>Rust: Vec автоматично звільняє heap-пам'ять при виході зі scope (RAII)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Способи створення Vec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3931920" cy="118872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EC9B0"/>
                </a:solidFill>
              </a:rPr>
              <a:t>1. Макрос vec!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548640"/>
            <a:ext cx="8229600" cy="123444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594360"/>
            <a:ext cx="80467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v = vec![1, 2, 3];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zeros = vec![0; 10]; // 10 нулів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0" y="868680"/>
            <a:ext cx="4114800" cy="118872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8" name="Text 6"/>
          <p:cNvSpPr/>
          <p:nvPr/>
        </p:nvSpPr>
        <p:spPr>
          <a:xfrm>
            <a:off x="4663440" y="9144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EC9B0"/>
                </a:solidFill>
              </a:rPr>
              <a:t>2. Vec::new()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4663440"/>
            <a:ext cx="8229600" cy="123444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4709160"/>
            <a:ext cx="80467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mut v: Vec&lt;i32&gt; = Vec::new();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v.push(1);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148840"/>
            <a:ext cx="3931920" cy="118872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1945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DCAA"/>
                </a:solidFill>
              </a:rPr>
              <a:t>3. Vec::with_capacity()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548640"/>
            <a:ext cx="8229600" cy="251460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594360"/>
            <a:ext cx="8046720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mut v = Vec::with_capacity(100);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len=0, capacity=100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0" y="2148840"/>
            <a:ext cx="4114800" cy="118872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21945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EC9B0"/>
                </a:solidFill>
              </a:rPr>
              <a:t>4. Vec::from()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4663440"/>
            <a:ext cx="8229600" cy="251460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709160"/>
            <a:ext cx="8046720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v = Vec::from([1, 2, 3]);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bytes = Vec::from("hello");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34290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</a:rPr>
              <a:t>💡 with_capacity — якщо знаєте приблизну кількість елементів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МАС: Створення Vec для рою БПЛА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Структура позиції дрона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Position { x: f64, y: f64, altitude: f64 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Структура дрона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Drone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id: u32,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position: Position,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battery: u8,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Рій дронів — вектор!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mut swarm: Vec&lt;Drone&gt; = Vec::with_capacity(50);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Маршрут польоту — вектор точок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flight_path: Vec&lt;Position&gt; = vec![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Position { x: 0.0, y: 0.0, altitude: 100.0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Position { x: 100.0, y: 50.0, altitude: 150.0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3547872"/>
            <a:ext cx="804672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Чому Vec? Кількість дронів, точок маршруту, виявлених цілей — все це динамічне!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Додавання та видалення: push / pop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3931920" cy="182880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EC9B0"/>
                </a:solidFill>
              </a:rPr>
              <a:t>push() — додати в кінець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548640"/>
            <a:ext cx="8229600" cy="123444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594360"/>
            <a:ext cx="80467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mut v = vec![1, 2];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v.push(3);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v.push(4);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v = [1, 2, 3, 4]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21031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</a:rPr>
              <a:t>⏱ O(1) амортизована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</a:rPr>
              <a:t>⚠️ Потребує mut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0" y="868680"/>
            <a:ext cx="4114800" cy="182880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9144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E422B"/>
                </a:solidFill>
              </a:rPr>
              <a:t>pop() — видалити з кінця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4663440"/>
            <a:ext cx="8229600" cy="123444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4709160"/>
            <a:ext cx="80467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mut v = vec![1, 2, 3];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last = v.pop();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last = Some(3)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v = [1, 2]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663440" y="21031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</a:rPr>
              <a:t>⏱ O(1) завжди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</a:rPr>
              <a:t>↩️ Повертає Option&lt;T&gt;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9260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</a:rPr>
              <a:t>Стек на Vec: push/pop з кінця — ідеально для LIFO!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Вставка та видалення за індексом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3931920" cy="164592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EC9B0"/>
                </a:solidFill>
              </a:rPr>
              <a:t>insert(index, element)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548640"/>
            <a:ext cx="8229600" cy="123444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594360"/>
            <a:ext cx="80467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mut v = vec![1, 2, 4];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v.insert(2, 3);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v = [1, 2, 3, 4]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E422B"/>
                </a:solidFill>
              </a:rPr>
              <a:t>⚠️ O(n) — зсуває елементи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0" y="868680"/>
            <a:ext cx="4114800" cy="164592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9144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E422B"/>
                </a:solidFill>
              </a:rPr>
              <a:t>remove(index)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4663440"/>
            <a:ext cx="8229600" cy="123444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4709160"/>
            <a:ext cx="80467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mut v = vec!["a", "b", "c"];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r = v.remove(1);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r="b", v=["a","c"]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663440" y="192024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E422B"/>
                </a:solidFill>
              </a:rPr>
              <a:t>⚠️ O(n) — зсуває елементи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2651760"/>
            <a:ext cx="8229600" cy="640080"/>
          </a:xfrm>
          <a:prstGeom prst="rect">
            <a:avLst/>
          </a:prstGeom>
          <a:solidFill>
            <a:srgbClr val="3E2723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724912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</a:rPr>
              <a:t>💡 swap_remove(index) — O(1)!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</a:rPr>
              <a:t>Якщо порядок не важливий — міняє з останнім і видаляє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Доступ до елементів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2651760" cy="15544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EC9B0"/>
                </a:solidFill>
              </a:rPr>
              <a:t>Індексація [ ]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548640"/>
            <a:ext cx="8229600" cy="11887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59436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v = vec![10,20,30];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first = v[0]; // 10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v[10] → panic!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87452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E422B"/>
                </a:solidFill>
              </a:rPr>
              <a:t>💥 Паніка за межами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0" y="868680"/>
            <a:ext cx="2651760" cy="15544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9" name="Text 7"/>
          <p:cNvSpPr/>
          <p:nvPr/>
        </p:nvSpPr>
        <p:spPr>
          <a:xfrm>
            <a:off x="3291840" y="91440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EC9B0"/>
                </a:solidFill>
              </a:rPr>
              <a:t>get() — безпечно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291840"/>
            <a:ext cx="8229600" cy="11887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33756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v.get(0)  // Some(&amp;10)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v.get(10) // None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291840" y="169164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C9B0"/>
                </a:solidFill>
              </a:rPr>
              <a:t>✓ Option&lt;&amp;T&gt;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943600" y="868680"/>
            <a:ext cx="2743200" cy="15544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14" name="Text 12"/>
          <p:cNvSpPr/>
          <p:nvPr/>
        </p:nvSpPr>
        <p:spPr>
          <a:xfrm>
            <a:off x="6035040" y="91440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EC9B0"/>
                </a:solidFill>
              </a:rPr>
              <a:t>first() / last()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6035040"/>
            <a:ext cx="8229600" cy="11887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608076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v.first() // Some(&amp;10)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v.last()  // Some(&amp;30)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035040" y="169164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C9B0"/>
                </a:solidFill>
              </a:rPr>
              <a:t>✓ Зручно для черг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263347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</a:rPr>
              <a:t>Правило: get() коли індекс може бути невалідним, [] коли впевнені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Мутабельний доступ до елементів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3931920" cy="137160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EC9B0"/>
                </a:solidFill>
              </a:rPr>
              <a:t>Зміна через індекс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548640"/>
            <a:ext cx="8229600" cy="11887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59436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mut v = vec![1, 2, 3];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v[0] = 10;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v[2] = 30;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v = [10, 2, 30]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0" y="868680"/>
            <a:ext cx="4114800" cy="137160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8" name="Text 6"/>
          <p:cNvSpPr/>
          <p:nvPr/>
        </p:nvSpPr>
        <p:spPr>
          <a:xfrm>
            <a:off x="4663440" y="91440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EC9B0"/>
                </a:solidFill>
              </a:rPr>
              <a:t>get_mut() — безпечна зміна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4663440"/>
            <a:ext cx="8229600" cy="11887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470916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let Some(elem) = v.get_mut(0)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*elem = 100;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v = [100, 2, 3]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457200"/>
            <a:ext cx="8229600" cy="237744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502920"/>
            <a:ext cx="8046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first_mut() / last_mut()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mut v = vec!["a", "b", "c"];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let Some(last) = v.last_mut()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*last = "z";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v = ["a", "b", "z"]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Розмір та ємність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2651760" cy="128016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EC9B0"/>
                </a:solidFill>
              </a:rPr>
              <a:t>len()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548640"/>
            <a:ext cx="8229600" cy="11887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59436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v = vec![1, 2, 3];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v.len() // 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69164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</a:rPr>
              <a:t>Кількість елементів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0" y="868680"/>
            <a:ext cx="2651760" cy="128016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9" name="Text 7"/>
          <p:cNvSpPr/>
          <p:nvPr/>
        </p:nvSpPr>
        <p:spPr>
          <a:xfrm>
            <a:off x="3291840" y="91440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EC9B0"/>
                </a:solidFill>
              </a:rPr>
              <a:t>is_empty()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291840"/>
            <a:ext cx="8229600" cy="11887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33756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v: Vec&lt;i32&gt; = vec![];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v.is_empty() // true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291840" y="169164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</a:rPr>
              <a:t>len == 0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943600" y="868680"/>
            <a:ext cx="2743200" cy="128016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14" name="Text 12"/>
          <p:cNvSpPr/>
          <p:nvPr/>
        </p:nvSpPr>
        <p:spPr>
          <a:xfrm>
            <a:off x="6035040" y="91440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DCAA"/>
                </a:solidFill>
              </a:rPr>
              <a:t>capacity()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6035040"/>
            <a:ext cx="8229600" cy="11887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608076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v = Vec::with_capacity(10);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v.capacity() // 10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035040" y="169164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</a:rPr>
              <a:t>Виділено пам'яті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235915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len — скільки використовується | capacity — скільки виділено без реалокації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Як Vec росте: реалокація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82296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Коли len == capacity і викликається push():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1. Виділяє новий блок (× 2)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2. Копіює всі елементи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3. Звільняє старий блок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457200"/>
            <a:ext cx="8229600" cy="17830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502920"/>
            <a:ext cx="804672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mut v = Vec::new();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0..10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v.push(i);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println!("len: {}, cap: {}", v.len(), v.capacity());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len: 1, cap: 4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len: 2, cap: 4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len: 5, cap: 8  ← реалокація!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len: 9, cap: 16 ← реалокація!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3337560"/>
            <a:ext cx="8229600" cy="411480"/>
          </a:xfrm>
          <a:prstGeom prst="rect">
            <a:avLst/>
          </a:prstGeom>
          <a:solidFill>
            <a:srgbClr val="3E2723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41071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</a:rPr>
              <a:t>💡 Vec::with_capacity(n) — уникнути реалокацій, якщо знаєте приблизний розмір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Керування пам'яттю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2651760" cy="137160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EC9B0"/>
                </a:solidFill>
              </a:rPr>
              <a:t>reserve(n)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548640"/>
            <a:ext cx="8229600" cy="11887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59436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mut v = vec![1, 2];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v.reserve(100);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cap &gt;= 102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</a:rPr>
              <a:t>Гарантує місце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0" y="868680"/>
            <a:ext cx="2651760" cy="137160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9" name="Text 7"/>
          <p:cNvSpPr/>
          <p:nvPr/>
        </p:nvSpPr>
        <p:spPr>
          <a:xfrm>
            <a:off x="3291840" y="91440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EC9B0"/>
                </a:solidFill>
              </a:rPr>
              <a:t>shrink_to_fit()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291840"/>
            <a:ext cx="8229600" cy="11887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33756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v.shrink_to_fit();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cap ~= len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291840" y="164592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</a:rPr>
              <a:t>Зменшує cap до len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943600" y="868680"/>
            <a:ext cx="2743200" cy="137160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14" name="Text 12"/>
          <p:cNvSpPr/>
          <p:nvPr/>
        </p:nvSpPr>
        <p:spPr>
          <a:xfrm>
            <a:off x="6035040" y="91440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E422B"/>
                </a:solidFill>
              </a:rPr>
              <a:t>clear()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6035040"/>
            <a:ext cx="8229600" cy="11887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608076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v.clear();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len=0, cap залишається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035040" y="164592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</a:rPr>
              <a:t>Видалити всі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457200"/>
            <a:ext cx="8229600" cy="237744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502920"/>
            <a:ext cx="8046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truncate(n) — обрізати до n елементів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mut v = vec![1, 2, 3, 4, 5];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v.truncate(2); // v = [1, 2]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Ownership: Vec володіє елементами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59436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448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Правило: Vec&lt;T&gt; володіє всіма елементами.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При drop вектора — всі елементи також drop'аються.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2651760" cy="1371600"/>
          </a:xfrm>
          <a:prstGeom prst="rect">
            <a:avLst/>
          </a:prstGeom>
          <a:solidFill>
            <a:srgbClr val="3E272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0020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E422B"/>
                </a:solidFill>
              </a:rPr>
              <a:t>❌ Move з вектора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548640"/>
            <a:ext cx="8229600" cy="18745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594360"/>
            <a:ext cx="804672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v = vec![String::from("a")];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s = v[0];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❌ cannot move out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0" y="1554480"/>
            <a:ext cx="2651760" cy="137160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10" name="Text 8"/>
          <p:cNvSpPr/>
          <p:nvPr/>
        </p:nvSpPr>
        <p:spPr>
          <a:xfrm>
            <a:off x="3291840" y="160020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EC9B0"/>
                </a:solidFill>
              </a:rPr>
              <a:t>✓ Clone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291840"/>
            <a:ext cx="8229600" cy="18745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337560"/>
            <a:ext cx="804672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s = v[0].clone();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✓ Копія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943600" y="1554480"/>
            <a:ext cx="2743200" cy="137160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14" name="Text 12"/>
          <p:cNvSpPr/>
          <p:nvPr/>
        </p:nvSpPr>
        <p:spPr>
          <a:xfrm>
            <a:off x="6035040" y="160020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EC9B0"/>
                </a:solidFill>
              </a:rPr>
              <a:t>✓ Посилання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6035040"/>
            <a:ext cx="8229600" cy="18745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6080760"/>
            <a:ext cx="804672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s = &amp;v[0];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✓ Позичання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063240"/>
            <a:ext cx="8229600" cy="45720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13639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</a:rPr>
              <a:t>Copy типи: Для i32, f64, bool — v[0] копіює автоматично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МАС: Черга команд для БПЛА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Команди для дрона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 DroneCommand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TakeOff, Land, FlyTo(Position), Scan, Return,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Черга команд — Vec!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mut command_queue: Vec&lt;DroneCommand&gt; = vec![];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Додавання команд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command_queue.push(DroneCommand::TakeOff);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command_queue.push(DroneCommand::FlyTo(target));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command_queue.push(DroneCommand::Scan);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Виконання (FIFO — з початку)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!command_queue.is_empty()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cmd = command_queue.remove(0);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execute(cmd);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34290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</a:rPr>
              <a:t>💡 Для справжньої черги краще VecDeque (O(1) з обох кінців)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МАС: Рій агентів як Vec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Swarm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drones: Vec&lt;Drone&gt;,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commander_id: Option&lt;u32&gt;,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Swarm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Додати дрон до рою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add_drone(&amp;mut self, drone: Drone)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self.drones.push(drone);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Знайти дрон за ID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find_drone(&amp;self, id: u32) -&gt; Option&lt;&amp;Drone&gt;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self.drones.iter().find(|d| d.id == id)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Кількість активних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active_count(&amp;self) -&gt; usize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self.drones.iter().filter(|d| d.is_active()).count()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МАС: Маршрут польоту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FlightPath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waypoints: Vec&lt;Position&gt;,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current_index: usize,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FlightPath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new() -&gt; Self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FlightPath { waypoints: vec![], current_index: 0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add_waypoint(&amp;mut self, pos: Position)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self.waypoints.push(pos);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next_waypoint(&amp;mut self) -&gt; Option&lt;&amp;Position&gt;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self.current_index &lt; self.waypoints.len()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let wp = &amp;self.waypoints[self.current_index];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self.current_index += 1;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Some(wp)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 else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None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Основні методи Vec (1/2)</a:t>
            </a:r>
            <a:endParaRPr lang="en-US" sz="26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68680"/>
          <a:ext cx="8229600" cy="22860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Метод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Опис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Складність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push(elem)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Додати в кінець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O(1)*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pop()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Видалити з кінця → Option&lt;T&gt;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O(1)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insert(i, elem)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Вставити на позицію 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O(n)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remove(i)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Видалити з позиції i → 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O(n)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swap_remove(i)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Видалити, замінивши останнім → 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O(1)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get(i)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Отримати посилання → Option&lt;&amp;T&gt;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O(1)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first() / last()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Перший / останній → Option&lt;&amp;T&gt;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O(1)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320040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</a:rPr>
              <a:t>* амортизована складність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Основні методи Vec (2/2)</a:t>
            </a:r>
            <a:endParaRPr lang="en-US" sz="26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68680"/>
          <a:ext cx="8229600" cy="22860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254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Метод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Опис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Складність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len()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Кількість елементів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O(1)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is_empty()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Чи порожній?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O(1)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capacity()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Виділено пам'яті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O(1)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clear()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Видалити всі елементи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O(n)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reserve(n)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Гарантувати місце для 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O(n)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shrink_to_fit()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Зменшити capacity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O(n)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contains(&amp;elem)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Чи містить елемент?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O(n)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sort()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Відсортувати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O(n log n)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Підсумок: Частина 1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4688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2322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Vec&lt;T&gt; — динамічний масив на heap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Росте автоматично (реалокація × 2)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Володіє елементами (Ownership)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RAII — автоматичне звільнення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Основні операції: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push/pop — O(1) з кінця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insert/remove — O(n) за індексом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get/[] — доступ до елементів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🤖 МАС застосування: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Рій дронів як Vec&lt;Drone&gt;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Черга команд, маршрут польоту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34290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</a:rPr>
              <a:t>→ Частина 2: Slices, ітерація, функціональний стиль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Vec&lt;T&gt; Частина 1</dc:title>
  <dc:subject>PptxGenJS Presentation</dc:subject>
  <dc:creator>О.С. Бичков</dc:creator>
  <cp:lastModifiedBy>О.С. Бичков</cp:lastModifiedBy>
  <cp:revision>1</cp:revision>
  <dcterms:created xsi:type="dcterms:W3CDTF">2026-01-02T16:50:14Z</dcterms:created>
  <dcterms:modified xsi:type="dcterms:W3CDTF">2026-01-02T16:50:14Z</dcterms:modified>
</cp:coreProperties>
</file>