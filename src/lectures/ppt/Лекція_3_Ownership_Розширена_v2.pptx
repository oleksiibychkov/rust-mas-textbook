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85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E422B"/>
                </a:solidFill>
              </a:rPr>
              <a:t>Ownership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</a:rPr>
              <a:t>Система володіння — серце Rust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</a:rPr>
              <a:t>Move • Copy • Clone • Drop • Borrowing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Лекція 3 (розширена версія)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</a:rPr>
              <a:t>Бичков Олексій Сергійович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Чому Ownership — найважливіша тема?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Ownership — це те, що робить Rust унікальним серед мов програмування.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Це система керування пам'яттю, яка: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Не потребує збирача сміття (Garbage Collector)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Гарантує відсутність витоків пам'яті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Запобігає data races на етапі компіляції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Забезпечує memory safety без runtime overhead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Якщо ви зрозумієте Ownership — ви зрозумієте Rust.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Якщо ні — будете постійно "боротися" з компілятором.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⚠️ Ця лекція потребує уважного вивчення.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Перегляньте її кілька разів, поки концепції не стануть інтуїтивними.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Зміст лекції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1: Проблема керування пам'яттю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 Як інші мови вирішують цю проблему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 Чому Rust обрав інший шлях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2: Три правила Ownership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 Кожне значення має власника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 Тільки один власник одночасно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 Значення звільняється при виході власника зі scope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3: Move — передача володіння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 Що таке move semantics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 String vs &amp;str — глибоке пояснення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4: Copy та Clone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5: Borrowing — запозичення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6: Практика з помилками компілятора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Цілі лекції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9B0"/>
                </a:solidFill>
              </a:rPr>
              <a:t>Після цієї лекції ви зможете: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Пояснити три правила ownership своїми словами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Розуміти різницю між move та copy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Знати, які типи копіюються, а які переміщуються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Використовувати Clone для явного копіювання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Розуміти borrowing (&amp;T та &amp;mut T)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Читати та виправляти помилки borrow checker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• Писати код, що "дружить" з ownership системою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Проблема керування пам'яттю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Як різні мови вирішують цю проблему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керування пам'яттю?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Програма використовує пам'ять для зберігання даних.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дані більше не потрібні — пам'ять треба звільнити.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Ключові питання: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Коли виділяти пам'ять?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Коли звільняти пам'ять?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Хто відповідальний за звільнення?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Проблеми при неправильному керуванні: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393192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231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747"/>
                </a:solidFill>
              </a:rPr>
              <a:t>Memory Leak (витік)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Пам'ять виділена, але ніколи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не звільняється. Програма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"з'їдає" всю пам'ять.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2377440"/>
            <a:ext cx="393192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24231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747"/>
                </a:solidFill>
              </a:rPr>
              <a:t>Use After Free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2651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Пам'ять звільнена, але програма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намагається її використати.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Double Free — звільнення тієї самої пам'яті двічі → невизначена поведінка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Реальні наслідки помилок пам'яті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Статистика вразливостей (офіційні дані):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Microsoft (2019): ~70% вразливостей Windows — помилки пам'яті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Google (2020): ~70% критичних багів Chrome — помилки пам'яті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Android: більшість критичних CVE пов'язані з memory safety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Відомі атаки: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Heartbleed (2014) — buffer over-read в OpenSSL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WannaCry (2017) — експлуатація use-after-free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Stagefright (2015) — RCE через медіа-файли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Чому важко уникнути в C/C++: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Компілятор НЕ перевіряє правильність роботи з пам'яттю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Помилки виявляються в runtime (якщо пощастить)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Код може працювати роками і раптом зламатись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9B0"/>
                </a:solidFill>
              </a:rPr>
              <a:t>Rust створений, щоб зробити ці помилки НЕМОЖЛИВИМИ!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Підхід C: Ручне керування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39"/>
            <a:ext cx="8229600" cy="2363375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char* message = malloc(100);  // Виділяємо вручну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strcpy(message, "Hello!");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printf("%s\n", message);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free(message);  // ОБОВ'ЯЗКОВО звільнити!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Небезпека: message все ще вказує на звільнену пам'ять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printf("%s\n", message);  // Use After Free!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Небезпека: подвійне звільнення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free(message);  // Double Free!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232055"/>
            <a:ext cx="8229600" cy="6858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23495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C: повний контроль, але вся відповідальність на програмісті.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Одна помилка — і вразливість безпеки або крах програми.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Типові помилки в C — детальніше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59"/>
            <a:ext cx="8229600" cy="2679895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634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After Free — класична помилка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 get_message()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buffer[100];           // Локальний масив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strcpy(buffer, 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buffer;              // 💥 Повертаємо вказівник на локальну змінну!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    // buffer знищується!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 Free — ще одна класика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process(char* data)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робота з data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free(data);                 // Звільнили тут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char* msg = malloc(100);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process(msg);               // process звільнив msg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free(msg);                  // 💥 Double Free!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15397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747"/>
                </a:solidFill>
              </a:rPr>
              <a:t>В C компілятор НЕ попереджає — помилки виявляються тільки в runtime!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Підхід Java/Python/Go: Garbage Collector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029968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— GC автоматично звільняє пам'ять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message = new String("Hello!");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System.out.println(message);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Не потрібно нічого звільняти!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GC сам очистить, коли message не використовується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— теж GC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"Hello!"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print(message)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Автоматичне очищення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393192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955"/>
                </a:solidFill>
              </a:rPr>
              <a:t>Переваги GC: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Простота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Безпека — немає use after free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2880360"/>
            <a:ext cx="393192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2926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747"/>
                </a:solidFill>
              </a:rPr>
              <a:t>Недоліки GC: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31272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Паузи — GC зупиняє програму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Накладні витрати — більше пам'яті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Проблеми Garbage Collection — детально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1. Stop-The-World паузи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GC періодично зупиняє ВСЮ програму для аналізу пам'яті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• Java: типові паузи 10-100мс, інколи секунди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• Критично для: ігор (60 FPS = 16мс/кадр), торгових систем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2. Непередбачуваність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Ви не знаєте, КОЛИ GC запуститься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Програма може "замерзнути" в найгірший момент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3. Більше використання пам'яті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GC працює ефективніше, коли пам'яті багато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Типово програми з GC використовують 2-3x більше RAM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4. Складність налаштування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Сучасні GC мають десятки параметрів для тюнінгу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Неправильні налаштування = ще гірша продуктивність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Підхід Rust: Ownership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Rust обрав третій шлях: Ownership System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Ідея: компілятор СТАТИЧНО відстежує, хто "володіє" кожним значенням,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і автоматично вставляє код звільнення пам'яті.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message = String::from("Hello!");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message);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Тут message виходить зі scope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Rust АВТОМАТИЧНО звільняє пам'ять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Ніякого GC, ніякого ручного free!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101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✓ Безпека як у GC  +  ✓ Швидкість як у C  +  ✓ Нуль накладних витрат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Порівняння трьох підходів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422B"/>
                </a:solidFill>
              </a:rPr>
              <a:t>Підхід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422B"/>
                </a:solidFill>
              </a:rPr>
              <a:t>Безпека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344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422B"/>
                </a:solidFill>
              </a:rPr>
              <a:t>Швидкість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9224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422B"/>
                </a:solidFill>
              </a:rPr>
              <a:t>Простота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C (ручне)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❌ Низька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✓ Максимальна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❌ Складно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Java/Python (GC)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✓ Висока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❌ Паузи GC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✓ Просто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240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Rust (Ownership)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✓ Висока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✓ Максимальна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⚠️ Треба вчити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Rust вимагає зусиль на початку, але дає найкращий результат: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Компілятор перевіряє все за вас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Якщо код скомпілювався — він безпечний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Три правила Ownership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Фундамент системи володіння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Правило 1: Кожне значення має власника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Кожне значення в Rust має змінну — його власника (owner).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^   ^^^^^^^^^^^^^^^^^^^^^^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|   значення (дані на heap)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власник (змінна 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42;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^   ^^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|   значення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власник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Метафора: ресурс — це фізичний об'єкт (ключі).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Ключі завжди хтось тримає — вони не висять у повітрі.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Метафора: Власник квартири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Уявіть, що значення — це квартира, а змінна — власник: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Квартира завжди має ОДНОГО офіційного власника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(навіть якщо там живуть орендарі)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Власник ВІДПОВІДАЄ за квартиру: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Платить податки, комунальні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Робить ремонт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Вирішує, коли продати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Коли власник "йде" — квартира переходить новому власнику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або звільняється (знищується)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Квартира НЕ МОЖЕ бути "нічийною" — завжди є власник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Так само в Rust: дані завжди мають власника (змінну).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Правило 2: Тільки один власник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DCAA"/>
                </a:solidFill>
              </a:rPr>
              <a:t>У кожен момент часу може бути тільки ОДИН власник значення.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s1;  // Володіння ПЕРЕХОДИТЬ від s1 до s2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s1 більше НЕ є власником!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println!("{}", s1);  // ❌ ПОМИЛКА компіляції!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s2);     // ✓ OK — s2 тепер власник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Метафора: передаєте ключі іншій людині.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Тепер ви не можете відкрити двері — ключі не у вас.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Це називається MOVE — значення "переїхало" до іншого власника.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Чому тільки ОДИН власник?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Уявіть, що було б з кількома власниками: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Проблема 1: Хто звільняє пам'ять?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Власник A: "Я звільню"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Власник B: "Ні, я звільню"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Результат: Double Free або Memory Leak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Проблема 2: Use After Free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Власник A звільнив пам'ять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Власник B не знає і намагається використати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Результат: крах програми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Проблема 3: Data Race (багатопотоковість)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Власник A змінює дані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Власник B читає ті самі дані одночасно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Результат: непередбачуваний стан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Один власник = чітка відповідальність!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Правило 3: Drop при виході зі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422B"/>
                </a:solidFill>
              </a:rPr>
              <a:t>Коли власник виходить зі scope, значення автоматично звільняється.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  // Починається новий scope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println!("{}", 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  // s виходить зі scope → drop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Пам'ять АВТОМАТИЧНО звільнена!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 тут не існує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println!("{}", s);  // ❌ ПОМИЛКА!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Компілятор автоматично вставляє drop(s) перед 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Scope (область видимості)?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Scope — це регіон коду, де змінна є дійсною (valid).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                    // main scope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 = 1;                 // a дійсна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                         // внутрішній scope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b = 2;             // b дійсна тут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println!("{}", a + b);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                         // b drop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println!("{}", b);      // ❌ b не існує!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a);         // ✓ a ще дійсна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   // a drop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Scope визначається { }. Функція, if, loop, match — створюють scope.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Drop — як це працює всередині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Drop — це trait, який можна реалізувати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Resource { name: String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Drop for Resource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drop(&amp;mut self)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println!("Звільняю: {}", self.name);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r1 = Resource { name: String::from("Файл")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r2 = Resource { name: String::from("З'єднання")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println!("Використовую...");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drop(r2), потім drop(r1) — LIFO!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Вивід: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Використовую...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Звільняю: З'єднання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Звільняю: Файл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LIFO: останній створений — перший знищується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Три правила Ownership — підсумок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73152" cy="50292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D4D4"/>
                </a:solidFill>
              </a:rPr>
              <a:t>1. Кожне значення має власника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" cy="50292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D4D4"/>
                </a:solidFill>
              </a:rPr>
              <a:t>2. Тільки один власник у кожен момент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57400"/>
            <a:ext cx="73152" cy="50292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D4D4"/>
                </a:solidFill>
              </a:rPr>
              <a:t>3. Вихід зі scope → значення звільняється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Ці три правила — все, що потрібно знати про Ownership.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Решта — це наслідки цих правил.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Rust перевіряє дотримання цих правил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на етапі компіляції — тому немає runtime помилок!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Move — передача володіння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Що відбувається при присвоєнні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Нагадування: Stack vs Heap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Stack (Стек)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Фіксований розмір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Швидкий доступ (LIFO)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Автоматичне керування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Типи: i32, f64, bool, char,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[T; N], кортежі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DCAA"/>
                </a:solidFill>
              </a:rPr>
              <a:t>Heap (Купа)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Динамічний розмір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Повільніший доступ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Потребує керування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Типи: String, Vec&lt;T&gt;,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Box&lt;T&gt;, HashMap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Ownership важливий для heap даних — там реальне виділення/звільнення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String — як влаштований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s = String::from("hello");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Stack (s):                      Heap: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┌────────────┐                  ┌───┬───┬───┬───┬───┐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│ </a:t>
            </a:r>
            <a:r>
              <a:rPr lang="en-US" sz="1000" dirty="0" err="1">
                <a:solidFill>
                  <a:srgbClr val="D4D4D4"/>
                </a:solidFill>
                <a:latin typeface="Courier" panose="02070309020205020404" pitchFamily="49" charset="0"/>
              </a:rPr>
              <a:t>ptr</a:t>
            </a: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────┼─────────────────→│ h │ e │ l │ l │ o │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├────────────┤                  └───┴───┴───┴───┴───┘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│ len: 5     │                  (5 байт даних)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├────────────┤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│ capacity: 5│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└────────────┘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(24 байти на stack)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ptr — вказівник на дані в heap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len — поточна довжина рядка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capacity — скільки виділено пам'яті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відбувається при move?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s1 = String::from("hello");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s2 = s1;  // MOVE!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До move:                          Після move: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s1: ┌────────┐                    s1: (недійсний)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│ ptr ───┼──→ "hello"         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│ len: 5 │                    s2: ┌────────┐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│ cap: 5 │                        │ ptr ───┼──→ "hello"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└────────┘                        │ len: 5 │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                                  │ cap: 5 │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                                  └────────┘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Копіюються тільки 24 байти на stack (ptr, len, cap).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Дані на heap НЕ копіюються.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s1 стає недійсним — компілятор забороняє його використання.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Чому Rust не копіює heap дані?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Проблема 1: ПОВІЛЬНО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Копіювання 1GB при кожному присвоєнні = катастрофа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Проблема 2: Double Free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Якщо s1 і s2 вказують на ту саму пам'ять: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s1 виходить зі scope → free()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- s2 виходить зі scope → free() ← 💥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Проблема 3: Data Race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Два власники можуть одночасно змінювати дані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3347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9B0"/>
                </a:solidFill>
              </a:rPr>
              <a:t>Рішення: при присвоєнні — MOVE, не copy.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EC9B0"/>
                </a:solidFill>
              </a:rPr>
              <a:t>Старий власник "забуває" про дані → проблеми зникають!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Move при передачі в функцію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take_ownership(s: String)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s drop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s1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take_ownership(s1);  // s1 переміщується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println!("{}", s1);  // ❌ ПОМИЛКА!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s1 вже не дійсний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Функція "забирає" значення у власність.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Move при поверненні з функції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create_string() -&gt; String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 // Володіння передається назовні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take_and_give_back(s: String) -&gt; String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println!("Отримав: {}", 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 // Повертаємо назад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s1 = create_string();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s2 = take_and_give_back(s1);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s2);  // ✓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String vs &amp;str — ключова різниця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String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Володіє даними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На heap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Може змінюватись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При присвоєнні — MOVE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let s = String::from("hi");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let s2 = s;  // move!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DCAA"/>
                </a:solidFill>
              </a:rPr>
              <a:t>&amp;str (slice)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115568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НЕ володіє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"Дивиться" на дані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Read-only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При присвоєнні — COPY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let s: &amp;str = "hi";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let s2 = s;  // copy!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"hello" (літерал) — це &amp;str в бінарнику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Copy та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Типи, що копіюються vs типи, що переміщуються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Copy trait — автоматичне копіювання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x;  // COPY! (не move)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println!("x = {}", x);  // ✓ OK!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println!("y = {}", y);  // ✓ OK!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Обидві змінні дійсні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Copy типи — типи, які: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Живуть повністю на stack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Копіювання — просте побітове копіювання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Копіювання швидке і дешеве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Copy — це trait, який позначає такі типи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Які типи мають Copy?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2103120"/>
          </a:xfrm>
          <a:prstGeom prst="rect">
            <a:avLst/>
          </a:prstGeom>
          <a:solidFill>
            <a:srgbClr val="1B3D1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955"/>
                </a:solidFill>
              </a:rPr>
              <a:t>Copy типи (копіюються):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i8..i128, u8..u128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f32, f64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bool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char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(i32, f64) — кортежі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[i32; 10] — масиви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&amp;T — посилання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21031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747"/>
                </a:solidFill>
              </a:rPr>
              <a:t>НЕ Copy типи (move):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String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Vec&lt;T&gt;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HashMap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Box&lt;T&gt;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File, TcpStream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• Структури з не-Copy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8080"/>
                </a:solidFill>
              </a:rPr>
              <a:t>Правило: якщо тип має heap-дані — він НЕ Copy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Clone trait — явне копіювання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s1.clone();  // ЯВНЕ глибоке копіювання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println!("s1 = {}", s1);  // ✓ OK!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println!("s2 = {}", s2);  // ✓ OK!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Дві незалежні копії на heap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Clone vs Copy: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Copy — автоматичне, неявне, дешеве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Clone — явне (.clone()), може бути дороге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Типи з Copy автоматично мають Clone.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Типи з Clone не обов'язково мають Copy.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Clone — що відбувається в пам'яті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377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s1 = String::from("hello");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s2 = s1.clone();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Після clone():</a:t>
            </a:r>
            <a:endParaRPr lang="en-US" sz="1000" dirty="0"/>
          </a:p>
          <a:p>
            <a:pPr marL="0" indent="0">
              <a:buNone/>
            </a:pP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s1: ┌────────┐                s2: ┌────────┐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│ ptr ───┼──→ "hello"         │ ptr ───┼──→ "hello"  ← НОВА!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│ len: 5 │        ↑           │ len: 5 │        ↑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│ cap: 5 │        │           │ cap: 5 │        │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└────────┘        │           └────────┘        │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" panose="02070309020205020404" pitchFamily="49" charset="0"/>
              </a:rPr>
              <a:t>               Heap блок 1                   Heap блок 2</a:t>
            </a:r>
            <a:endParaRPr lang="en-US" sz="1000" dirty="0"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Дві НЕЗАЛЕЖНІ копії даних.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</a:rPr>
              <a:t>.clone() виділяє нову пам'ять — може бути повільно!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Додавання Copy/Clone до власних типів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59"/>
            <a:ext cx="8229600" cy="2426677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#[derive(Copy, Clone, Debug)]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f64,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f64,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p1 = Point { x: 1.0, y: 2.0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p2 = p1;  // COPY!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println!("p1: {:?}", p1);  // ✓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println!("p2: {:?}", p2);  // ✓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Не можна Copy якщо є не-Copy поля: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struct Person { name: String }  // String не Copy!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Borrowing — запозичення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Доступ до даних без передачі володіння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Проблема: як передати без втрати?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calculate_length(s: String) -&gt; usize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s.len()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s drop!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s1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len = calculate_length(s1);  // s1 moved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println!("{}", s1);  // ❌ ПОМИЛКА!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</a:rPr>
              <a:t>Move "забирає" значення. Але що якщо воно ще потрібне?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Рішення: Borrowing (запозичення)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calculate_length(s: &amp;String) -&gt; usize {  // &amp;String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s.len()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s (посилання) drop, дані НЕ звільняються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s1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len = calculate_length(&amp;s1);  // &amp;s1 — позичаємо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println!("'{}' має {} символів", s1, len);  // ✓ OK!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3347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&amp; — створює посилання (reference)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&amp;s1 — "позичити s1 для читання"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Іммутабельні посилання &amp;T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String::from("hello");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&amp;s;  //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&amp;s;  // OK — багато &amp;T одночасно!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r3 = &amp;s;  // OK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r1);  //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r2);  // ✓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r1.push_str("!");  // ❌ Не можна змінювати!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&amp;T: скільки завгодно одночасно, тільки читання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Мутабельні посилання &amp;mut 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add_world(s: &amp;mut String)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s.push_str(" world");  // ✓ Можемо змінювати!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 = String::from("hello");  // mut!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add_world(&amp;mut 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s);  // "hello world"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Для &amp;mut T потрібно: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let mut s  •  &amp;mut s  •  fn f(s: &amp;mut String)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Головне правило Borrowing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В один момент часу можна мати АБО: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• Скільки завгодно &amp;T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• ОДНЕ &amp;mut 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Ніколи обидва одночасно!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 = String::from("hello");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&amp;s;      //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&amp;s;      //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r3 = &amp;mut s;  // ❌ Не можна поки є &amp;T!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r1);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r1, r2 більше не використовуються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r3 = &amp;mut s;  // ✓ OK тепер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Чому таке обмеження?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Це правило запобігає DATA RACE на етапі компіляції: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70432"/>
            <a:ext cx="804672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Data Race виникає, коли: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1. Кілька вказівників доступаються до тих самих даних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2. Хоча б один пише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3. Немає синхронізації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Правило Rust робить data race НЕМОЖЛИВИМ: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Багато &amp;T — OK (ніхто не змінює)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Один &amp;mut T — OK (ніхто не читає)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&amp;T + &amp;mut T — ЗАБОРОНЕНО!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955"/>
                </a:solidFill>
              </a:rPr>
              <a:t>В інших мовах такі баги шукають місяцями. В Rust — компілятор за секунди!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Приклад конфлікту borrowing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2, 3];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 = &amp;v[0];  // &amp;T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v.push(4);  // ❌ push потребує &amp;mut v!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first);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error[E0502]: cannot borrow `v` as mutable because it 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also borrowed as immutable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Рішення: використати first ДО push, або обмежити scope.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Dangling References — висячі посилання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dangle() -&gt; &amp;String {     // ❌ ПОМИЛКА!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&amp;s  // Повертаємо посилання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// s drop! Посилання → нікуди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Правильно: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no_dangle() -&gt; String {   // ✓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  // Передаємо володіння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Rust не дозволяє посиланню пережити дані, на які воно вказує.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Практика з помилками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Вчимося читати повідомлення компілятора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Помилка 1: Use after move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s1);  // ❌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error[E0382]: borrow of moved value: `s1`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moved here... value borrowed here after move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955"/>
                </a:solidFill>
              </a:rPr>
              <a:t>Рішення: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Варіант 1: Clone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s2 = s1.clone();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Варіант 2: Використати s2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s2);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Помилка 2: Cannot borrow as mutable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s.push_str(" world");  // ❌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error[E0596]: cannot borrow `s` as mutable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955"/>
                </a:solidFill>
              </a:rPr>
              <a:t>Рішення: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 = String::from("hello");  // Додати mut!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s.push_str(" world");  // ✓ OK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Помилка 3: Mutable + immutable borrow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 = String::from("hello");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&amp;s;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&amp;mut s;  // 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r1);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error[E0502]: cannot borrow `s` as mutable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955"/>
                </a:solidFill>
              </a:rPr>
              <a:t>Рішення: використати r1 до створення r2: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r1);  // Використали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&amp;mut s;     // ✓ OK тепер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Практика: передача агента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 id: u32, battery: u8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Забирає володіння: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report(drone: Drone) { println!("{}", drone.id);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 = Drone { id: 1, battery: 85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report(d);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report(d);  // ❌ moved!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Рішення: посилання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report(drone: &amp;Drone) { ...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report(&amp;d);  //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report(&amp;d);  // ✓ Можна знову!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Типові паттерни роботи з Ownership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1. Тільки читання — &amp;T: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fn print_info(drone: &amp;Drone) { ...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2. Потрібно змінити — &amp;mut 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fn charge(drone: &amp;mut Drone) { drone.battery = 100;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3. Новий власник — 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fn destroy(drone: Drone) { ...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4. Незалежна копія — .clone():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 let backup = drone.clone();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529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9B0"/>
                </a:solidFill>
              </a:rPr>
              <a:t>За замовчуванням: &amp;T. Змінювати: &amp;mut T. T — рідко.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1. Move semantics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Напишіть код з move для String.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Виправте помилку: clone та посилання.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2. Copy types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Створіть Point { x: f64, y: f64 } з derive(Copy, Clone).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3. Borrowing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Напишіть функції для Drone: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- get_battery(&amp;self) -&gt; u8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- set_battery(&amp;mut self, value: u8)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- destroy(self)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4. Виправлення помилок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 Знайдіть та виправте 3 помилки ownership.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Підсумок: Ownership Rules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1. Кожне значення має власника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DCAA"/>
                </a:solidFill>
              </a:rPr>
              <a:t>2. Тільки один власник одночасно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422B"/>
                </a:solidFill>
              </a:rPr>
              <a:t>3. Вихід зі scope → drop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Move vs Copy: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Copy (i32, f64, bool) — копіюються автоматично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Не-Copy (String, Vec) — move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.clone() — явне копіювання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Borrowing: &amp;T (багато, читання) | &amp;mut T (один, запис)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Підсумок: Borrowing Rules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АБО будь-яка кількість &amp;T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АБО рівно одне &amp;mut 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Ніколи обидва!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Це запобігає: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Data races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Iterator invalidation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Use after free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Dangling pointers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Компілятор — ваш друг! Він знаходить помилки ДО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Ownership vs інші підходи — фінал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8046720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C/C++: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malloc/free → 70% вразливостей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Java/Python/Go: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GC → паузи, overhead, непередбачуваність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Rust: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Ownership + borrow checker → безпека БЕЗ overhead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КОМПІЛЯТОР перевіряє!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  Якщо скомпілювалось — воно безпечне!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Вартість Rust: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Крива навчання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Іноді "боротьба" з borrow checker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АЛЕ: ви вчитеся писати КРАЩИЙ код у будь-якій мові!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Наступна лекція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EC9B0"/>
                </a:solidFill>
              </a:rPr>
              <a:t>Enum та Pattern Matching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Enum — більше ніж перелік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Варіанти з даними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Потужність match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Option&lt;T&gt; та Result&lt;T, 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Машина станів агента БПЛА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Enum в Rust — це Algebraic Data Types.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Ідеальний інструмент для моделювання станів!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E422B"/>
                </a:solidFill>
              </a:rPr>
              <a:t>🦀 Дякую за увагу!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4498</Words>
  <Application>Microsoft Office PowerPoint</Application>
  <PresentationFormat>Экран (16:9)</PresentationFormat>
  <Paragraphs>800</Paragraphs>
  <Slides>56</Slides>
  <Notes>56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1" baseType="lpstr">
      <vt:lpstr>Arial</vt:lpstr>
      <vt:lpstr>Calibri</vt:lpstr>
      <vt:lpstr>Courier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Ownership - Розширена версія</dc:title>
  <dc:subject>PptxGenJS Presentation</dc:subject>
  <dc:creator>О. С. Бичков</dc:creator>
  <cp:lastModifiedBy>Алексей</cp:lastModifiedBy>
  <cp:revision>2</cp:revision>
  <dcterms:created xsi:type="dcterms:W3CDTF">2026-01-02T15:34:02Z</dcterms:created>
  <dcterms:modified xsi:type="dcterms:W3CDTF">2026-01-03T11:17:36Z</dcterms:modified>
</cp:coreProperties>
</file>